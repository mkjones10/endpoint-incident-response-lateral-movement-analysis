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56" r:id="rId5"/>
    <p:sldId id="257" r:id="rId6"/>
    <p:sldId id="258" r:id="rId7"/>
    <p:sldId id="259" r:id="rId8"/>
    <p:sldId id="260" r:id="rId9"/>
    <p:sldId id="261" r:id="rId10"/>
    <p:sldId id="262" r:id="rId11"/>
    <p:sldId id="263"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847"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779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6"/>
          </a:solidFill>
          <a:ln w="12700">
            <a:solidFill>
              <a:srgbClr val="C9A846"/>
            </a:solidFill>
            <a:prstDash val="solid"/>
          </a:ln>
        </p:spPr>
        <p:txBody>
          <a:bodyPr/>
          <a:lstStyle/>
          <a:p>
            <a:endParaRPr lang="en-US"/>
          </a:p>
        </p:txBody>
      </p:sp>
      <p:sp>
        <p:nvSpPr>
          <p:cNvPr id="3" name="Shape 1"/>
          <p:cNvSpPr/>
          <p:nvPr/>
        </p:nvSpPr>
        <p:spPr>
          <a:xfrm>
            <a:off x="6675120" y="0"/>
            <a:ext cx="2468880" cy="5143500"/>
          </a:xfrm>
          <a:prstGeom prst="rect">
            <a:avLst/>
          </a:prstGeom>
          <a:solidFill>
            <a:srgbClr val="152233"/>
          </a:solidFill>
          <a:ln w="12700">
            <a:solidFill>
              <a:srgbClr val="152233"/>
            </a:solidFill>
            <a:prstDash val="solid"/>
          </a:ln>
        </p:spPr>
        <p:txBody>
          <a:bodyPr/>
          <a:lstStyle/>
          <a:p>
            <a:endParaRPr lang="en-US"/>
          </a:p>
        </p:txBody>
      </p:sp>
      <p:sp>
        <p:nvSpPr>
          <p:cNvPr id="4" name="Shape 2"/>
          <p:cNvSpPr/>
          <p:nvPr/>
        </p:nvSpPr>
        <p:spPr>
          <a:xfrm>
            <a:off x="365760" y="475488"/>
            <a:ext cx="2011680" cy="274320"/>
          </a:xfrm>
          <a:prstGeom prst="rect">
            <a:avLst/>
          </a:prstGeom>
          <a:solidFill>
            <a:srgbClr val="C0392B"/>
          </a:solidFill>
          <a:ln w="12700">
            <a:solidFill>
              <a:srgbClr val="C0392B"/>
            </a:solidFill>
            <a:prstDash val="solid"/>
          </a:ln>
        </p:spPr>
        <p:txBody>
          <a:bodyPr/>
          <a:lstStyle/>
          <a:p>
            <a:endParaRPr lang="en-US"/>
          </a:p>
        </p:txBody>
      </p:sp>
      <p:sp>
        <p:nvSpPr>
          <p:cNvPr id="5" name="Text 3"/>
          <p:cNvSpPr/>
          <p:nvPr/>
        </p:nvSpPr>
        <p:spPr>
          <a:xfrm>
            <a:off x="365760" y="475488"/>
            <a:ext cx="2011680" cy="274320"/>
          </a:xfrm>
          <a:prstGeom prst="rect">
            <a:avLst/>
          </a:prstGeom>
          <a:noFill/>
          <a:ln/>
        </p:spPr>
        <p:txBody>
          <a:bodyPr wrap="square"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ENDPOINT INCIDENT RESPONSE</a:t>
            </a:r>
            <a:endParaRPr lang="en-US" sz="700" dirty="0"/>
          </a:p>
        </p:txBody>
      </p:sp>
      <p:sp>
        <p:nvSpPr>
          <p:cNvPr id="6" name="Text 4"/>
          <p:cNvSpPr/>
          <p:nvPr/>
        </p:nvSpPr>
        <p:spPr>
          <a:xfrm>
            <a:off x="365760" y="886968"/>
            <a:ext cx="6126480" cy="129844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 Hacker Got Into</a:t>
            </a:r>
            <a:endParaRPr lang="en-US" sz="3600" dirty="0"/>
          </a:p>
          <a:p>
            <a:pPr marL="0" indent="0">
              <a:buNone/>
            </a:pPr>
            <a:r>
              <a:rPr lang="en-US" sz="3600" b="1" dirty="0">
                <a:solidFill>
                  <a:srgbClr val="FFFFFF"/>
                </a:solidFill>
                <a:latin typeface="Calibri" pitchFamily="34" charset="0"/>
                <a:ea typeface="Calibri" pitchFamily="34" charset="-122"/>
                <a:cs typeface="Calibri" pitchFamily="34" charset="-120"/>
              </a:rPr>
              <a:t>Our Network.</a:t>
            </a:r>
            <a:endParaRPr lang="en-US" sz="3600" dirty="0"/>
          </a:p>
        </p:txBody>
      </p:sp>
      <p:sp>
        <p:nvSpPr>
          <p:cNvPr id="7" name="Text 5"/>
          <p:cNvSpPr/>
          <p:nvPr/>
        </p:nvSpPr>
        <p:spPr>
          <a:xfrm>
            <a:off x="365760" y="2267712"/>
            <a:ext cx="6126480" cy="658368"/>
          </a:xfrm>
          <a:prstGeom prst="rect">
            <a:avLst/>
          </a:prstGeom>
          <a:noFill/>
          <a:ln/>
        </p:spPr>
        <p:txBody>
          <a:bodyPr wrap="square" lIns="0" tIns="0" rIns="0" bIns="0" rtlCol="0" anchor="ctr"/>
          <a:lstStyle/>
          <a:p>
            <a:pPr marL="0" indent="0">
              <a:buNone/>
            </a:pPr>
            <a:r>
              <a:rPr lang="en-US" sz="1500" dirty="0">
                <a:solidFill>
                  <a:srgbClr val="E8EDF3"/>
                </a:solidFill>
                <a:latin typeface="Calibri" pitchFamily="34" charset="0"/>
                <a:ea typeface="Calibri" pitchFamily="34" charset="-122"/>
                <a:cs typeface="Calibri" pitchFamily="34" charset="-120"/>
              </a:rPr>
              <a:t>Here's what they did, how far they got,</a:t>
            </a:r>
            <a:endParaRPr lang="en-US" sz="1500" dirty="0"/>
          </a:p>
          <a:p>
            <a:pPr marL="0" indent="0">
              <a:buNone/>
            </a:pPr>
            <a:r>
              <a:rPr lang="en-US" sz="1500" dirty="0">
                <a:solidFill>
                  <a:srgbClr val="E8EDF3"/>
                </a:solidFill>
                <a:latin typeface="Calibri" pitchFamily="34" charset="0"/>
                <a:ea typeface="Calibri" pitchFamily="34" charset="-122"/>
                <a:cs typeface="Calibri" pitchFamily="34" charset="-120"/>
              </a:rPr>
              <a:t>and what we're doing to stop it happening again.</a:t>
            </a:r>
            <a:endParaRPr lang="en-US" sz="1500" dirty="0"/>
          </a:p>
        </p:txBody>
      </p:sp>
      <p:sp>
        <p:nvSpPr>
          <p:cNvPr id="8" name="Shape 6"/>
          <p:cNvSpPr/>
          <p:nvPr/>
        </p:nvSpPr>
        <p:spPr>
          <a:xfrm>
            <a:off x="365760" y="3017520"/>
            <a:ext cx="6126480" cy="45720"/>
          </a:xfrm>
          <a:prstGeom prst="rect">
            <a:avLst/>
          </a:prstGeom>
          <a:solidFill>
            <a:srgbClr val="C9A846"/>
          </a:solidFill>
          <a:ln w="12700">
            <a:solidFill>
              <a:srgbClr val="C9A846"/>
            </a:solidFill>
            <a:prstDash val="solid"/>
          </a:ln>
        </p:spPr>
        <p:txBody>
          <a:bodyPr/>
          <a:lstStyle/>
          <a:p>
            <a:endParaRPr lang="en-US"/>
          </a:p>
        </p:txBody>
      </p:sp>
      <p:sp>
        <p:nvSpPr>
          <p:cNvPr id="9" name="Text 7"/>
          <p:cNvSpPr/>
          <p:nvPr/>
        </p:nvSpPr>
        <p:spPr>
          <a:xfrm>
            <a:off x="365760" y="3145536"/>
            <a:ext cx="6126480" cy="256032"/>
          </a:xfrm>
          <a:prstGeom prst="rect">
            <a:avLst/>
          </a:prstGeom>
          <a:noFill/>
          <a:ln/>
        </p:spPr>
        <p:txBody>
          <a:bodyPr wrap="square" rtlCol="0" anchor="ctr"/>
          <a:lstStyle/>
          <a:p>
            <a:pPr marL="0" indent="0">
              <a:buNone/>
            </a:pPr>
            <a:r>
              <a:rPr lang="en-US" sz="1100" dirty="0">
                <a:solidFill>
                  <a:srgbClr val="8AAABB"/>
                </a:solidFill>
                <a:latin typeface="Calibri" pitchFamily="34" charset="0"/>
                <a:ea typeface="Calibri" pitchFamily="34" charset="-122"/>
                <a:cs typeface="Calibri" pitchFamily="34" charset="-120"/>
              </a:rPr>
              <a:t>Maxine Jones  ·  Cybersecurity Analyst  ·  Lumen Soda, Inc. Investigation</a:t>
            </a:r>
            <a:endParaRPr lang="en-US" sz="1100" dirty="0"/>
          </a:p>
        </p:txBody>
      </p:sp>
      <p:sp>
        <p:nvSpPr>
          <p:cNvPr id="10" name="Text 8"/>
          <p:cNvSpPr/>
          <p:nvPr/>
        </p:nvSpPr>
        <p:spPr>
          <a:xfrm>
            <a:off x="6675120" y="502920"/>
            <a:ext cx="2468880" cy="713232"/>
          </a:xfrm>
          <a:prstGeom prst="rect">
            <a:avLst/>
          </a:prstGeom>
          <a:noFill/>
          <a:ln/>
        </p:spPr>
        <p:txBody>
          <a:bodyPr wrap="square" rtlCol="0" anchor="ctr"/>
          <a:lstStyle/>
          <a:p>
            <a:pPr marL="0" indent="0" algn="ctr">
              <a:buNone/>
            </a:pPr>
            <a:r>
              <a:rPr lang="en-US" sz="2600" b="1" dirty="0">
                <a:solidFill>
                  <a:srgbClr val="C9A846"/>
                </a:solidFill>
                <a:latin typeface="Calibri" pitchFamily="34" charset="0"/>
                <a:ea typeface="Calibri" pitchFamily="34" charset="-122"/>
                <a:cs typeface="Calibri" pitchFamily="34" charset="-120"/>
              </a:rPr>
              <a:t>22 min</a:t>
            </a:r>
            <a:endParaRPr lang="en-US" sz="2600" dirty="0"/>
          </a:p>
        </p:txBody>
      </p:sp>
      <p:sp>
        <p:nvSpPr>
          <p:cNvPr id="11" name="Text 9"/>
          <p:cNvSpPr/>
          <p:nvPr/>
        </p:nvSpPr>
        <p:spPr>
          <a:xfrm>
            <a:off x="6675120" y="1197864"/>
            <a:ext cx="2468880" cy="475488"/>
          </a:xfrm>
          <a:prstGeom prst="rect">
            <a:avLst/>
          </a:prstGeom>
          <a:noFill/>
          <a:ln/>
        </p:spPr>
        <p:txBody>
          <a:bodyPr wrap="square" rtlCol="0" anchor="ctr"/>
          <a:lstStyle/>
          <a:p>
            <a:pPr marL="0" indent="0" algn="ctr">
              <a:buNone/>
            </a:pPr>
            <a:r>
              <a:rPr lang="en-US" sz="1000" dirty="0">
                <a:solidFill>
                  <a:srgbClr val="8AAABB"/>
                </a:solidFill>
                <a:latin typeface="Calibri" pitchFamily="34" charset="0"/>
                <a:ea typeface="Calibri" pitchFamily="34" charset="-122"/>
                <a:cs typeface="Calibri" pitchFamily="34" charset="-120"/>
              </a:rPr>
              <a:t>Window of</a:t>
            </a:r>
            <a:endParaRPr lang="en-US" sz="1000" dirty="0"/>
          </a:p>
          <a:p>
            <a:pPr marL="0" indent="0" algn="ctr">
              <a:buNone/>
            </a:pPr>
            <a:r>
              <a:rPr lang="en-US" sz="1000" dirty="0">
                <a:solidFill>
                  <a:srgbClr val="8AAABB"/>
                </a:solidFill>
                <a:latin typeface="Calibri" pitchFamily="34" charset="0"/>
                <a:ea typeface="Calibri" pitchFamily="34" charset="-122"/>
                <a:cs typeface="Calibri" pitchFamily="34" charset="-120"/>
              </a:rPr>
              <a:t>attacker activity</a:t>
            </a:r>
            <a:endParaRPr lang="en-US" sz="1000" dirty="0"/>
          </a:p>
        </p:txBody>
      </p:sp>
      <p:sp>
        <p:nvSpPr>
          <p:cNvPr id="12" name="Shape 10"/>
          <p:cNvSpPr/>
          <p:nvPr/>
        </p:nvSpPr>
        <p:spPr>
          <a:xfrm>
            <a:off x="7040880" y="1728216"/>
            <a:ext cx="1463040" cy="36576"/>
          </a:xfrm>
          <a:prstGeom prst="rect">
            <a:avLst/>
          </a:prstGeom>
          <a:solidFill>
            <a:srgbClr val="1C2E44"/>
          </a:solidFill>
          <a:ln w="12700">
            <a:solidFill>
              <a:srgbClr val="1C2E44"/>
            </a:solidFill>
            <a:prstDash val="solid"/>
          </a:ln>
        </p:spPr>
        <p:txBody>
          <a:bodyPr/>
          <a:lstStyle/>
          <a:p>
            <a:endParaRPr lang="en-US"/>
          </a:p>
        </p:txBody>
      </p:sp>
      <p:sp>
        <p:nvSpPr>
          <p:cNvPr id="13" name="Text 11"/>
          <p:cNvSpPr/>
          <p:nvPr/>
        </p:nvSpPr>
        <p:spPr>
          <a:xfrm>
            <a:off x="6675120" y="1965960"/>
            <a:ext cx="2468880" cy="713232"/>
          </a:xfrm>
          <a:prstGeom prst="rect">
            <a:avLst/>
          </a:prstGeom>
          <a:noFill/>
          <a:ln/>
        </p:spPr>
        <p:txBody>
          <a:bodyPr wrap="square" rtlCol="0" anchor="ctr"/>
          <a:lstStyle/>
          <a:p>
            <a:pPr marL="0" indent="0" algn="ctr">
              <a:buNone/>
            </a:pPr>
            <a:r>
              <a:rPr lang="en-US" sz="2600" b="1" dirty="0">
                <a:solidFill>
                  <a:srgbClr val="C9A846"/>
                </a:solidFill>
                <a:latin typeface="Calibri" pitchFamily="34" charset="0"/>
                <a:ea typeface="Calibri" pitchFamily="34" charset="-122"/>
                <a:cs typeface="Calibri" pitchFamily="34" charset="-120"/>
              </a:rPr>
              <a:t>2+</a:t>
            </a:r>
            <a:endParaRPr lang="en-US" sz="2600" dirty="0"/>
          </a:p>
        </p:txBody>
      </p:sp>
      <p:sp>
        <p:nvSpPr>
          <p:cNvPr id="14" name="Text 12"/>
          <p:cNvSpPr/>
          <p:nvPr/>
        </p:nvSpPr>
        <p:spPr>
          <a:xfrm>
            <a:off x="6675120" y="2660904"/>
            <a:ext cx="2468880" cy="475488"/>
          </a:xfrm>
          <a:prstGeom prst="rect">
            <a:avLst/>
          </a:prstGeom>
          <a:noFill/>
          <a:ln/>
        </p:spPr>
        <p:txBody>
          <a:bodyPr wrap="square" rtlCol="0" anchor="ctr"/>
          <a:lstStyle/>
          <a:p>
            <a:pPr marL="0" indent="0" algn="ctr">
              <a:buNone/>
            </a:pPr>
            <a:r>
              <a:rPr lang="en-US" sz="1000" dirty="0">
                <a:solidFill>
                  <a:srgbClr val="8AAABB"/>
                </a:solidFill>
                <a:latin typeface="Calibri" pitchFamily="34" charset="0"/>
                <a:ea typeface="Calibri" pitchFamily="34" charset="-122"/>
                <a:cs typeface="Calibri" pitchFamily="34" charset="-120"/>
              </a:rPr>
              <a:t>Computers</a:t>
            </a:r>
            <a:endParaRPr lang="en-US" sz="1000" dirty="0"/>
          </a:p>
          <a:p>
            <a:pPr marL="0" indent="0" algn="ctr">
              <a:buNone/>
            </a:pPr>
            <a:r>
              <a:rPr lang="en-US" sz="1000" dirty="0">
                <a:solidFill>
                  <a:srgbClr val="8AAABB"/>
                </a:solidFill>
                <a:latin typeface="Calibri" pitchFamily="34" charset="0"/>
                <a:ea typeface="Calibri" pitchFamily="34" charset="-122"/>
                <a:cs typeface="Calibri" pitchFamily="34" charset="-120"/>
              </a:rPr>
              <a:t>compromised</a:t>
            </a:r>
            <a:endParaRPr lang="en-US" sz="1000" dirty="0"/>
          </a:p>
        </p:txBody>
      </p:sp>
      <p:sp>
        <p:nvSpPr>
          <p:cNvPr id="15" name="Shape 13"/>
          <p:cNvSpPr/>
          <p:nvPr/>
        </p:nvSpPr>
        <p:spPr>
          <a:xfrm>
            <a:off x="7040880" y="3191256"/>
            <a:ext cx="1463040" cy="36576"/>
          </a:xfrm>
          <a:prstGeom prst="rect">
            <a:avLst/>
          </a:prstGeom>
          <a:solidFill>
            <a:srgbClr val="1C2E44"/>
          </a:solidFill>
          <a:ln w="12700">
            <a:solidFill>
              <a:srgbClr val="1C2E44"/>
            </a:solidFill>
            <a:prstDash val="solid"/>
          </a:ln>
        </p:spPr>
        <p:txBody>
          <a:bodyPr/>
          <a:lstStyle/>
          <a:p>
            <a:endParaRPr lang="en-US"/>
          </a:p>
        </p:txBody>
      </p:sp>
      <p:sp>
        <p:nvSpPr>
          <p:cNvPr id="16" name="Text 14"/>
          <p:cNvSpPr/>
          <p:nvPr/>
        </p:nvSpPr>
        <p:spPr>
          <a:xfrm>
            <a:off x="6675120" y="3429000"/>
            <a:ext cx="2468880" cy="713232"/>
          </a:xfrm>
          <a:prstGeom prst="rect">
            <a:avLst/>
          </a:prstGeom>
          <a:noFill/>
          <a:ln/>
        </p:spPr>
        <p:txBody>
          <a:bodyPr wrap="square" rtlCol="0" anchor="ctr"/>
          <a:lstStyle/>
          <a:p>
            <a:pPr marL="0" indent="0" algn="ctr">
              <a:buNone/>
            </a:pPr>
            <a:r>
              <a:rPr lang="en-US" sz="2600" b="1" dirty="0">
                <a:solidFill>
                  <a:srgbClr val="C9A846"/>
                </a:solidFill>
                <a:latin typeface="Calibri" pitchFamily="34" charset="0"/>
                <a:ea typeface="Calibri" pitchFamily="34" charset="-122"/>
                <a:cs typeface="Calibri" pitchFamily="34" charset="-120"/>
              </a:rPr>
              <a:t>Confirmed</a:t>
            </a:r>
            <a:endParaRPr lang="en-US" sz="2600" dirty="0"/>
          </a:p>
        </p:txBody>
      </p:sp>
      <p:sp>
        <p:nvSpPr>
          <p:cNvPr id="17" name="Text 15"/>
          <p:cNvSpPr/>
          <p:nvPr/>
        </p:nvSpPr>
        <p:spPr>
          <a:xfrm>
            <a:off x="6675120" y="4123944"/>
            <a:ext cx="2468880" cy="475488"/>
          </a:xfrm>
          <a:prstGeom prst="rect">
            <a:avLst/>
          </a:prstGeom>
          <a:noFill/>
          <a:ln/>
        </p:spPr>
        <p:txBody>
          <a:bodyPr wrap="square" rtlCol="0" anchor="ctr"/>
          <a:lstStyle/>
          <a:p>
            <a:pPr marL="0" indent="0" algn="ctr">
              <a:buNone/>
            </a:pPr>
            <a:r>
              <a:rPr lang="en-US" sz="1000" dirty="0">
                <a:solidFill>
                  <a:srgbClr val="8AAABB"/>
                </a:solidFill>
                <a:latin typeface="Calibri" pitchFamily="34" charset="0"/>
                <a:ea typeface="Calibri" pitchFamily="34" charset="-122"/>
                <a:cs typeface="Calibri" pitchFamily="34" charset="-120"/>
              </a:rPr>
              <a:t>Lateral</a:t>
            </a:r>
            <a:endParaRPr lang="en-US" sz="1000" dirty="0"/>
          </a:p>
          <a:p>
            <a:pPr marL="0" indent="0" algn="ctr">
              <a:buNone/>
            </a:pPr>
            <a:r>
              <a:rPr lang="en-US" sz="1000" dirty="0">
                <a:solidFill>
                  <a:srgbClr val="8AAABB"/>
                </a:solidFill>
                <a:latin typeface="Calibri" pitchFamily="34" charset="0"/>
                <a:ea typeface="Calibri" pitchFamily="34" charset="-122"/>
                <a:cs typeface="Calibri" pitchFamily="34" charset="-120"/>
              </a:rPr>
              <a:t>movement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233"/>
          </a:solidFill>
          <a:ln w="12700">
            <a:solidFill>
              <a:srgbClr val="152233"/>
            </a:solidFill>
            <a:prstDash val="solid"/>
          </a:ln>
        </p:spPr>
        <p:txBody>
          <a:bodyPr/>
          <a:lstStyle/>
          <a:p>
            <a:endParaRPr lang="en-US"/>
          </a:p>
        </p:txBody>
      </p:sp>
      <p:sp>
        <p:nvSpPr>
          <p:cNvPr id="3" name="Shape 1"/>
          <p:cNvSpPr/>
          <p:nvPr/>
        </p:nvSpPr>
        <p:spPr>
          <a:xfrm>
            <a:off x="0" y="658368"/>
            <a:ext cx="9144000" cy="45720"/>
          </a:xfrm>
          <a:prstGeom prst="rect">
            <a:avLst/>
          </a:prstGeom>
          <a:solidFill>
            <a:srgbClr val="C9A846"/>
          </a:solidFill>
          <a:ln w="12700">
            <a:solidFill>
              <a:srgbClr val="C9A846"/>
            </a:solidFill>
            <a:prstDash val="solid"/>
          </a:ln>
        </p:spPr>
        <p:txBody>
          <a:bodyPr/>
          <a:lstStyle/>
          <a:p>
            <a:endParaRPr lang="en-US"/>
          </a:p>
        </p:txBody>
      </p:sp>
      <p:sp>
        <p:nvSpPr>
          <p:cNvPr id="4" name="Text 2"/>
          <p:cNvSpPr/>
          <p:nvPr/>
        </p:nvSpPr>
        <p:spPr>
          <a:xfrm>
            <a:off x="365760" y="9144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Happened</a:t>
            </a:r>
            <a:endParaRPr lang="en-US" sz="2400" dirty="0"/>
          </a:p>
        </p:txBody>
      </p:sp>
      <p:sp>
        <p:nvSpPr>
          <p:cNvPr id="5" name="Shape 3"/>
          <p:cNvSpPr/>
          <p:nvPr/>
        </p:nvSpPr>
        <p:spPr>
          <a:xfrm>
            <a:off x="274320" y="822960"/>
            <a:ext cx="4251960" cy="1810512"/>
          </a:xfrm>
          <a:prstGeom prst="rect">
            <a:avLst/>
          </a:prstGeom>
          <a:solidFill>
            <a:srgbClr val="152233"/>
          </a:solidFill>
          <a:ln w="12700">
            <a:solidFill>
              <a:srgbClr val="1C2E44"/>
            </a:solidFill>
            <a:prstDash val="solid"/>
          </a:ln>
        </p:spPr>
        <p:txBody>
          <a:bodyPr/>
          <a:lstStyle/>
          <a:p>
            <a:endParaRPr lang="en-US"/>
          </a:p>
        </p:txBody>
      </p:sp>
      <p:sp>
        <p:nvSpPr>
          <p:cNvPr id="6" name="Shape 4"/>
          <p:cNvSpPr/>
          <p:nvPr/>
        </p:nvSpPr>
        <p:spPr>
          <a:xfrm>
            <a:off x="274320" y="822960"/>
            <a:ext cx="4251960" cy="45720"/>
          </a:xfrm>
          <a:prstGeom prst="rect">
            <a:avLst/>
          </a:prstGeom>
          <a:solidFill>
            <a:srgbClr val="C0392B"/>
          </a:solidFill>
          <a:ln w="12700">
            <a:solidFill>
              <a:srgbClr val="C0392B"/>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11480" y="932688"/>
            <a:ext cx="347472" cy="347472"/>
          </a:xfrm>
          <a:prstGeom prst="rect">
            <a:avLst/>
          </a:prstGeom>
        </p:spPr>
      </p:pic>
      <p:sp>
        <p:nvSpPr>
          <p:cNvPr id="8" name="Shape 5"/>
          <p:cNvSpPr/>
          <p:nvPr/>
        </p:nvSpPr>
        <p:spPr>
          <a:xfrm>
            <a:off x="402336" y="1353312"/>
            <a:ext cx="201168" cy="201168"/>
          </a:xfrm>
          <a:prstGeom prst="line">
            <a:avLst/>
          </a:prstGeom>
          <a:solidFill>
            <a:srgbClr val="C0392B"/>
          </a:solidFill>
          <a:ln w="12700">
            <a:solidFill>
              <a:srgbClr val="C0392B"/>
            </a:solidFill>
            <a:prstDash val="solid"/>
          </a:ln>
        </p:spPr>
        <p:txBody>
          <a:bodyPr/>
          <a:lstStyle/>
          <a:p>
            <a:endParaRPr lang="en-US"/>
          </a:p>
        </p:txBody>
      </p:sp>
      <p:sp>
        <p:nvSpPr>
          <p:cNvPr id="9" name="Text 6"/>
          <p:cNvSpPr/>
          <p:nvPr/>
        </p:nvSpPr>
        <p:spPr>
          <a:xfrm>
            <a:off x="402336" y="1353312"/>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7"/>
          <p:cNvSpPr/>
          <p:nvPr/>
        </p:nvSpPr>
        <p:spPr>
          <a:xfrm>
            <a:off x="841248" y="914400"/>
            <a:ext cx="356616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Someone opened a malicious file</a:t>
            </a:r>
            <a:endParaRPr lang="en-US" sz="1100" dirty="0"/>
          </a:p>
        </p:txBody>
      </p:sp>
      <p:sp>
        <p:nvSpPr>
          <p:cNvPr id="11" name="Shape 8"/>
          <p:cNvSpPr/>
          <p:nvPr/>
        </p:nvSpPr>
        <p:spPr>
          <a:xfrm>
            <a:off x="411480" y="1325880"/>
            <a:ext cx="3977640" cy="27432"/>
          </a:xfrm>
          <a:prstGeom prst="rect">
            <a:avLst/>
          </a:prstGeom>
          <a:solidFill>
            <a:srgbClr val="1C2E44"/>
          </a:solidFill>
          <a:ln w="12700">
            <a:solidFill>
              <a:srgbClr val="1C2E44"/>
            </a:solidFill>
            <a:prstDash val="solid"/>
          </a:ln>
        </p:spPr>
        <p:txBody>
          <a:bodyPr/>
          <a:lstStyle/>
          <a:p>
            <a:endParaRPr lang="en-US"/>
          </a:p>
        </p:txBody>
      </p:sp>
      <p:sp>
        <p:nvSpPr>
          <p:cNvPr id="12" name="Text 9"/>
          <p:cNvSpPr/>
          <p:nvPr/>
        </p:nvSpPr>
        <p:spPr>
          <a:xfrm>
            <a:off x="411480" y="1417320"/>
            <a:ext cx="3977640" cy="114300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A file called 'gift-card.exe' was opened directly from the Desktop by a user with full administrator access. This wasn't a sophisticated hack — the user ran it themselves, likely believing it was legitimate.</a:t>
            </a:r>
            <a:endParaRPr lang="en-US" sz="950" dirty="0"/>
          </a:p>
        </p:txBody>
      </p:sp>
      <p:sp>
        <p:nvSpPr>
          <p:cNvPr id="13" name="Shape 10"/>
          <p:cNvSpPr/>
          <p:nvPr/>
        </p:nvSpPr>
        <p:spPr>
          <a:xfrm>
            <a:off x="4709160" y="822960"/>
            <a:ext cx="4251960" cy="1810512"/>
          </a:xfrm>
          <a:prstGeom prst="rect">
            <a:avLst/>
          </a:prstGeom>
          <a:solidFill>
            <a:srgbClr val="152233"/>
          </a:solidFill>
          <a:ln w="12700">
            <a:solidFill>
              <a:srgbClr val="1C2E44"/>
            </a:solidFill>
            <a:prstDash val="solid"/>
          </a:ln>
        </p:spPr>
        <p:txBody>
          <a:bodyPr/>
          <a:lstStyle/>
          <a:p>
            <a:endParaRPr lang="en-US"/>
          </a:p>
        </p:txBody>
      </p:sp>
      <p:sp>
        <p:nvSpPr>
          <p:cNvPr id="14" name="Shape 11"/>
          <p:cNvSpPr/>
          <p:nvPr/>
        </p:nvSpPr>
        <p:spPr>
          <a:xfrm>
            <a:off x="4709160" y="822960"/>
            <a:ext cx="4251960" cy="45720"/>
          </a:xfrm>
          <a:prstGeom prst="rect">
            <a:avLst/>
          </a:prstGeom>
          <a:solidFill>
            <a:srgbClr val="E67E22"/>
          </a:solidFill>
          <a:ln w="12700">
            <a:solidFill>
              <a:srgbClr val="E67E22"/>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846320" y="932688"/>
            <a:ext cx="347472" cy="347472"/>
          </a:xfrm>
          <a:prstGeom prst="rect">
            <a:avLst/>
          </a:prstGeom>
        </p:spPr>
      </p:pic>
      <p:sp>
        <p:nvSpPr>
          <p:cNvPr id="16" name="Shape 12"/>
          <p:cNvSpPr/>
          <p:nvPr/>
        </p:nvSpPr>
        <p:spPr>
          <a:xfrm>
            <a:off x="4837176" y="1353312"/>
            <a:ext cx="201168" cy="201168"/>
          </a:xfrm>
          <a:prstGeom prst="line">
            <a:avLst/>
          </a:prstGeom>
          <a:solidFill>
            <a:srgbClr val="E67E22"/>
          </a:solidFill>
          <a:ln w="12700">
            <a:solidFill>
              <a:srgbClr val="E67E22"/>
            </a:solidFill>
            <a:prstDash val="solid"/>
          </a:ln>
        </p:spPr>
        <p:txBody>
          <a:bodyPr/>
          <a:lstStyle/>
          <a:p>
            <a:endParaRPr lang="en-US"/>
          </a:p>
        </p:txBody>
      </p:sp>
      <p:sp>
        <p:nvSpPr>
          <p:cNvPr id="17" name="Text 13"/>
          <p:cNvSpPr/>
          <p:nvPr/>
        </p:nvSpPr>
        <p:spPr>
          <a:xfrm>
            <a:off x="4837176" y="1353312"/>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8" name="Text 14"/>
          <p:cNvSpPr/>
          <p:nvPr/>
        </p:nvSpPr>
        <p:spPr>
          <a:xfrm>
            <a:off x="5276088" y="914400"/>
            <a:ext cx="356616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file installed a second piece of malware</a:t>
            </a:r>
            <a:endParaRPr lang="en-US" sz="1100" dirty="0"/>
          </a:p>
        </p:txBody>
      </p:sp>
      <p:sp>
        <p:nvSpPr>
          <p:cNvPr id="19" name="Shape 15"/>
          <p:cNvSpPr/>
          <p:nvPr/>
        </p:nvSpPr>
        <p:spPr>
          <a:xfrm>
            <a:off x="4846320" y="1325880"/>
            <a:ext cx="3977640" cy="27432"/>
          </a:xfrm>
          <a:prstGeom prst="rect">
            <a:avLst/>
          </a:prstGeom>
          <a:solidFill>
            <a:srgbClr val="1C2E44"/>
          </a:solidFill>
          <a:ln w="12700">
            <a:solidFill>
              <a:srgbClr val="1C2E44"/>
            </a:solidFill>
            <a:prstDash val="solid"/>
          </a:ln>
        </p:spPr>
        <p:txBody>
          <a:bodyPr/>
          <a:lstStyle/>
          <a:p>
            <a:endParaRPr lang="en-US"/>
          </a:p>
        </p:txBody>
      </p:sp>
      <p:sp>
        <p:nvSpPr>
          <p:cNvPr id="20" name="Text 16"/>
          <p:cNvSpPr/>
          <p:nvPr/>
        </p:nvSpPr>
        <p:spPr>
          <a:xfrm>
            <a:off x="4846320" y="1417320"/>
            <a:ext cx="3977640" cy="114300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The moment it was opened, the file quietly installed a second, more dangerous program deep inside the computer's system folder — one designed to connect to other machines on the network.</a:t>
            </a:r>
            <a:endParaRPr lang="en-US" sz="950" dirty="0"/>
          </a:p>
        </p:txBody>
      </p:sp>
      <p:sp>
        <p:nvSpPr>
          <p:cNvPr id="21" name="Shape 17"/>
          <p:cNvSpPr/>
          <p:nvPr/>
        </p:nvSpPr>
        <p:spPr>
          <a:xfrm>
            <a:off x="274320" y="2816352"/>
            <a:ext cx="4251960" cy="1810512"/>
          </a:xfrm>
          <a:prstGeom prst="rect">
            <a:avLst/>
          </a:prstGeom>
          <a:solidFill>
            <a:srgbClr val="152233"/>
          </a:solidFill>
          <a:ln w="12700">
            <a:solidFill>
              <a:srgbClr val="1C2E44"/>
            </a:solidFill>
            <a:prstDash val="solid"/>
          </a:ln>
        </p:spPr>
        <p:txBody>
          <a:bodyPr/>
          <a:lstStyle/>
          <a:p>
            <a:endParaRPr lang="en-US"/>
          </a:p>
        </p:txBody>
      </p:sp>
      <p:sp>
        <p:nvSpPr>
          <p:cNvPr id="22" name="Shape 18"/>
          <p:cNvSpPr/>
          <p:nvPr/>
        </p:nvSpPr>
        <p:spPr>
          <a:xfrm>
            <a:off x="274320" y="2816352"/>
            <a:ext cx="4251960" cy="45720"/>
          </a:xfrm>
          <a:prstGeom prst="rect">
            <a:avLst/>
          </a:prstGeom>
          <a:solidFill>
            <a:srgbClr val="C0392B"/>
          </a:solidFill>
          <a:ln w="12700">
            <a:solidFill>
              <a:srgbClr val="C0392B"/>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411480" y="2926080"/>
            <a:ext cx="347472" cy="347472"/>
          </a:xfrm>
          <a:prstGeom prst="rect">
            <a:avLst/>
          </a:prstGeom>
        </p:spPr>
      </p:pic>
      <p:sp>
        <p:nvSpPr>
          <p:cNvPr id="24" name="Shape 19"/>
          <p:cNvSpPr/>
          <p:nvPr/>
        </p:nvSpPr>
        <p:spPr>
          <a:xfrm>
            <a:off x="402336" y="3346704"/>
            <a:ext cx="201168" cy="201168"/>
          </a:xfrm>
          <a:prstGeom prst="line">
            <a:avLst/>
          </a:prstGeom>
          <a:solidFill>
            <a:srgbClr val="C0392B"/>
          </a:solidFill>
          <a:ln w="12700">
            <a:solidFill>
              <a:srgbClr val="C0392B"/>
            </a:solidFill>
            <a:prstDash val="solid"/>
          </a:ln>
        </p:spPr>
        <p:txBody>
          <a:bodyPr/>
          <a:lstStyle/>
          <a:p>
            <a:endParaRPr lang="en-US"/>
          </a:p>
        </p:txBody>
      </p:sp>
      <p:sp>
        <p:nvSpPr>
          <p:cNvPr id="25" name="Text 20"/>
          <p:cNvSpPr/>
          <p:nvPr/>
        </p:nvSpPr>
        <p:spPr>
          <a:xfrm>
            <a:off x="402336" y="3346704"/>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21"/>
          <p:cNvSpPr/>
          <p:nvPr/>
        </p:nvSpPr>
        <p:spPr>
          <a:xfrm>
            <a:off x="841248" y="2907792"/>
            <a:ext cx="356616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attacker moved to a second computer</a:t>
            </a:r>
            <a:endParaRPr lang="en-US" sz="1100" dirty="0"/>
          </a:p>
        </p:txBody>
      </p:sp>
      <p:sp>
        <p:nvSpPr>
          <p:cNvPr id="27" name="Shape 22"/>
          <p:cNvSpPr/>
          <p:nvPr/>
        </p:nvSpPr>
        <p:spPr>
          <a:xfrm>
            <a:off x="411480" y="3319272"/>
            <a:ext cx="3977640" cy="27432"/>
          </a:xfrm>
          <a:prstGeom prst="rect">
            <a:avLst/>
          </a:prstGeom>
          <a:solidFill>
            <a:srgbClr val="1C2E44"/>
          </a:solidFill>
          <a:ln w="12700">
            <a:solidFill>
              <a:srgbClr val="1C2E44"/>
            </a:solidFill>
            <a:prstDash val="solid"/>
          </a:ln>
        </p:spPr>
        <p:txBody>
          <a:bodyPr/>
          <a:lstStyle/>
          <a:p>
            <a:endParaRPr lang="en-US"/>
          </a:p>
        </p:txBody>
      </p:sp>
      <p:sp>
        <p:nvSpPr>
          <p:cNvPr id="28" name="Text 23"/>
          <p:cNvSpPr/>
          <p:nvPr/>
        </p:nvSpPr>
        <p:spPr>
          <a:xfrm>
            <a:off x="411480" y="3410712"/>
            <a:ext cx="3977640" cy="114300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Using the access gained, the attacker connected to another machine on the network and was able to browse through files, folders, and sensitive developer directories freely.</a:t>
            </a:r>
            <a:endParaRPr lang="en-US" sz="950" dirty="0"/>
          </a:p>
        </p:txBody>
      </p:sp>
      <p:sp>
        <p:nvSpPr>
          <p:cNvPr id="29" name="Shape 24"/>
          <p:cNvSpPr/>
          <p:nvPr/>
        </p:nvSpPr>
        <p:spPr>
          <a:xfrm>
            <a:off x="4709160" y="2816352"/>
            <a:ext cx="4251960" cy="1810512"/>
          </a:xfrm>
          <a:prstGeom prst="rect">
            <a:avLst/>
          </a:prstGeom>
          <a:solidFill>
            <a:srgbClr val="152233"/>
          </a:solidFill>
          <a:ln w="12700">
            <a:solidFill>
              <a:srgbClr val="1C2E44"/>
            </a:solidFill>
            <a:prstDash val="solid"/>
          </a:ln>
        </p:spPr>
        <p:txBody>
          <a:bodyPr/>
          <a:lstStyle/>
          <a:p>
            <a:endParaRPr lang="en-US"/>
          </a:p>
        </p:txBody>
      </p:sp>
      <p:sp>
        <p:nvSpPr>
          <p:cNvPr id="30" name="Shape 25"/>
          <p:cNvSpPr/>
          <p:nvPr/>
        </p:nvSpPr>
        <p:spPr>
          <a:xfrm>
            <a:off x="4709160" y="2816352"/>
            <a:ext cx="4251960" cy="45720"/>
          </a:xfrm>
          <a:prstGeom prst="rect">
            <a:avLst/>
          </a:prstGeom>
          <a:solidFill>
            <a:srgbClr val="C0392B"/>
          </a:solidFill>
          <a:ln w="12700">
            <a:solidFill>
              <a:srgbClr val="C0392B"/>
            </a:solidFill>
            <a:prstDash val="solid"/>
          </a:ln>
        </p:spPr>
        <p:txBody>
          <a:bodyPr/>
          <a:lstStyle/>
          <a:p>
            <a:endParaRPr lang="en-US"/>
          </a:p>
        </p:txBody>
      </p:sp>
      <p:pic>
        <p:nvPicPr>
          <p:cNvPr id="31" name="Image 3" descr="preencoded.png"/>
          <p:cNvPicPr>
            <a:picLocks noChangeAspect="1"/>
          </p:cNvPicPr>
          <p:nvPr/>
        </p:nvPicPr>
        <p:blipFill>
          <a:blip r:embed="rId6"/>
          <a:stretch>
            <a:fillRect/>
          </a:stretch>
        </p:blipFill>
        <p:spPr>
          <a:xfrm>
            <a:off x="4846320" y="2926080"/>
            <a:ext cx="347472" cy="347472"/>
          </a:xfrm>
          <a:prstGeom prst="rect">
            <a:avLst/>
          </a:prstGeom>
        </p:spPr>
      </p:pic>
      <p:sp>
        <p:nvSpPr>
          <p:cNvPr id="32" name="Shape 26"/>
          <p:cNvSpPr/>
          <p:nvPr/>
        </p:nvSpPr>
        <p:spPr>
          <a:xfrm>
            <a:off x="4837176" y="3346704"/>
            <a:ext cx="201168" cy="201168"/>
          </a:xfrm>
          <a:prstGeom prst="line">
            <a:avLst/>
          </a:prstGeom>
          <a:solidFill>
            <a:srgbClr val="C0392B"/>
          </a:solidFill>
          <a:ln w="12700">
            <a:solidFill>
              <a:srgbClr val="C0392B"/>
            </a:solidFill>
            <a:prstDash val="solid"/>
          </a:ln>
        </p:spPr>
        <p:txBody>
          <a:bodyPr/>
          <a:lstStyle/>
          <a:p>
            <a:endParaRPr lang="en-US"/>
          </a:p>
        </p:txBody>
      </p:sp>
      <p:sp>
        <p:nvSpPr>
          <p:cNvPr id="33" name="Text 27"/>
          <p:cNvSpPr/>
          <p:nvPr/>
        </p:nvSpPr>
        <p:spPr>
          <a:xfrm>
            <a:off x="4837176" y="3346704"/>
            <a:ext cx="201168"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4" name="Text 28"/>
          <p:cNvSpPr/>
          <p:nvPr/>
        </p:nvSpPr>
        <p:spPr>
          <a:xfrm>
            <a:off x="5276088" y="2907792"/>
            <a:ext cx="356616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Sensitive files and data were accessed</a:t>
            </a:r>
            <a:endParaRPr lang="en-US" sz="1100" dirty="0"/>
          </a:p>
        </p:txBody>
      </p:sp>
      <p:sp>
        <p:nvSpPr>
          <p:cNvPr id="35" name="Shape 29"/>
          <p:cNvSpPr/>
          <p:nvPr/>
        </p:nvSpPr>
        <p:spPr>
          <a:xfrm>
            <a:off x="4846320" y="3319272"/>
            <a:ext cx="3977640" cy="27432"/>
          </a:xfrm>
          <a:prstGeom prst="rect">
            <a:avLst/>
          </a:prstGeom>
          <a:solidFill>
            <a:srgbClr val="1C2E44"/>
          </a:solidFill>
          <a:ln w="12700">
            <a:solidFill>
              <a:srgbClr val="1C2E44"/>
            </a:solidFill>
            <a:prstDash val="solid"/>
          </a:ln>
        </p:spPr>
        <p:txBody>
          <a:bodyPr/>
          <a:lstStyle/>
          <a:p>
            <a:endParaRPr lang="en-US"/>
          </a:p>
        </p:txBody>
      </p:sp>
      <p:sp>
        <p:nvSpPr>
          <p:cNvPr id="36" name="Text 30"/>
          <p:cNvSpPr/>
          <p:nvPr/>
        </p:nvSpPr>
        <p:spPr>
          <a:xfrm>
            <a:off x="4846320" y="3410712"/>
            <a:ext cx="3977640" cy="114300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On the second machine, the attacker accessed folders containing developer credentials, cloud access tokens, and private configuration files — and left behind files matching ransomware patterns.</a:t>
            </a:r>
            <a:endParaRPr lang="en-US" sz="950" dirty="0"/>
          </a:p>
        </p:txBody>
      </p:sp>
      <p:sp>
        <p:nvSpPr>
          <p:cNvPr id="37" name="Shape 31"/>
          <p:cNvSpPr/>
          <p:nvPr/>
        </p:nvSpPr>
        <p:spPr>
          <a:xfrm>
            <a:off x="0" y="4846320"/>
            <a:ext cx="9144000" cy="297180"/>
          </a:xfrm>
          <a:prstGeom prst="rect">
            <a:avLst/>
          </a:prstGeom>
          <a:solidFill>
            <a:srgbClr val="152233"/>
          </a:solidFill>
          <a:ln w="12700">
            <a:solidFill>
              <a:srgbClr val="152233"/>
            </a:solidFill>
            <a:prstDash val="solid"/>
          </a:ln>
        </p:spPr>
        <p:txBody>
          <a:bodyPr/>
          <a:lstStyle/>
          <a:p>
            <a:endParaRPr lang="en-US"/>
          </a:p>
        </p:txBody>
      </p:sp>
      <p:sp>
        <p:nvSpPr>
          <p:cNvPr id="38" name="Text 32"/>
          <p:cNvSpPr/>
          <p:nvPr/>
        </p:nvSpPr>
        <p:spPr>
          <a:xfrm>
            <a:off x="274320" y="4864608"/>
            <a:ext cx="8595360" cy="256032"/>
          </a:xfrm>
          <a:prstGeom prst="rect">
            <a:avLst/>
          </a:prstGeom>
          <a:noFill/>
          <a:ln/>
        </p:spPr>
        <p:txBody>
          <a:bodyPr wrap="square" rtlCol="0" anchor="ctr"/>
          <a:lstStyle/>
          <a:p>
            <a:pPr marL="0" indent="0" algn="ctr">
              <a:buNone/>
            </a:pPr>
            <a:r>
              <a:rPr lang="en-US" sz="750" dirty="0">
                <a:solidFill>
                  <a:srgbClr val="8AAABB"/>
                </a:solidFill>
                <a:latin typeface="Calibri" pitchFamily="34" charset="0"/>
                <a:ea typeface="Calibri" pitchFamily="34" charset="-122"/>
                <a:cs typeface="Calibri" pitchFamily="34" charset="-120"/>
              </a:rPr>
              <a:t>Maxine Jones  ·  Lumen Soda Endpoint IR Investigation</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233"/>
          </a:solidFill>
          <a:ln w="12700">
            <a:solidFill>
              <a:srgbClr val="152233"/>
            </a:solidFill>
            <a:prstDash val="solid"/>
          </a:ln>
        </p:spPr>
        <p:txBody>
          <a:bodyPr/>
          <a:lstStyle/>
          <a:p>
            <a:endParaRPr lang="en-US"/>
          </a:p>
        </p:txBody>
      </p:sp>
      <p:sp>
        <p:nvSpPr>
          <p:cNvPr id="3" name="Shape 1"/>
          <p:cNvSpPr/>
          <p:nvPr/>
        </p:nvSpPr>
        <p:spPr>
          <a:xfrm>
            <a:off x="0" y="658368"/>
            <a:ext cx="9144000" cy="457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365760" y="9144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Did the Attacker Get In?</a:t>
            </a:r>
            <a:endParaRPr lang="en-US" sz="2400" dirty="0"/>
          </a:p>
        </p:txBody>
      </p:sp>
      <p:sp>
        <p:nvSpPr>
          <p:cNvPr id="5" name="Shape 3"/>
          <p:cNvSpPr/>
          <p:nvPr/>
        </p:nvSpPr>
        <p:spPr>
          <a:xfrm>
            <a:off x="274320" y="804672"/>
            <a:ext cx="8595360" cy="1115568"/>
          </a:xfrm>
          <a:prstGeom prst="rect">
            <a:avLst/>
          </a:prstGeom>
          <a:solidFill>
            <a:srgbClr val="2A0808"/>
          </a:solidFill>
          <a:ln w="12700">
            <a:solidFill>
              <a:srgbClr val="C0392B"/>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11480" y="896112"/>
            <a:ext cx="749808" cy="749808"/>
          </a:xfrm>
          <a:prstGeom prst="rect">
            <a:avLst/>
          </a:prstGeom>
        </p:spPr>
      </p:pic>
      <p:sp>
        <p:nvSpPr>
          <p:cNvPr id="7" name="Text 4"/>
          <p:cNvSpPr/>
          <p:nvPr/>
        </p:nvSpPr>
        <p:spPr>
          <a:xfrm>
            <a:off x="1298448" y="859536"/>
            <a:ext cx="7406640" cy="329184"/>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Root Cause: The user ran the malicious file themselves</a:t>
            </a:r>
            <a:endParaRPr lang="en-US" sz="1300" dirty="0"/>
          </a:p>
        </p:txBody>
      </p:sp>
      <p:sp>
        <p:nvSpPr>
          <p:cNvPr id="8" name="Text 5"/>
          <p:cNvSpPr/>
          <p:nvPr/>
        </p:nvSpPr>
        <p:spPr>
          <a:xfrm>
            <a:off x="1298448" y="1225296"/>
            <a:ext cx="7406640" cy="621792"/>
          </a:xfrm>
          <a:prstGeom prst="rect">
            <a:avLst/>
          </a:prstGeom>
          <a:noFill/>
          <a:ln/>
        </p:spPr>
        <p:txBody>
          <a:bodyPr wrap="square" rtlCol="0" anchor="ctr"/>
          <a:lstStyle/>
          <a:p>
            <a:pPr marL="0" indent="0">
              <a:buNone/>
            </a:pPr>
            <a:r>
              <a:rPr lang="en-US" sz="1000" dirty="0">
                <a:solidFill>
                  <a:srgbClr val="E8EDF3"/>
                </a:solidFill>
                <a:latin typeface="Calibri" pitchFamily="34" charset="0"/>
                <a:ea typeface="Calibri" pitchFamily="34" charset="-122"/>
                <a:cs typeface="Calibri" pitchFamily="34" charset="-120"/>
              </a:rPr>
              <a:t>There was no sophisticated hack — the malware was opened directly from the Desktop. Standard perimeter defenses (firewalls, email filters) would not have stopped it. The gap was on the device itself, and the account had full administrator access, so the malware immediately had the highest level of system control.</a:t>
            </a:r>
            <a:endParaRPr lang="en-US" sz="1000" dirty="0"/>
          </a:p>
        </p:txBody>
      </p:sp>
      <p:sp>
        <p:nvSpPr>
          <p:cNvPr id="9" name="Shape 6"/>
          <p:cNvSpPr/>
          <p:nvPr/>
        </p:nvSpPr>
        <p:spPr>
          <a:xfrm>
            <a:off x="274320" y="2048256"/>
            <a:ext cx="2834640" cy="2679192"/>
          </a:xfrm>
          <a:prstGeom prst="rect">
            <a:avLst/>
          </a:prstGeom>
          <a:solidFill>
            <a:srgbClr val="152233"/>
          </a:solidFill>
          <a:ln w="12700">
            <a:solidFill>
              <a:srgbClr val="1C2E44"/>
            </a:solidFill>
            <a:prstDash val="solid"/>
          </a:ln>
        </p:spPr>
        <p:txBody>
          <a:bodyPr/>
          <a:lstStyle/>
          <a:p>
            <a:endParaRPr lang="en-US"/>
          </a:p>
        </p:txBody>
      </p:sp>
      <p:sp>
        <p:nvSpPr>
          <p:cNvPr id="10" name="Shape 7"/>
          <p:cNvSpPr/>
          <p:nvPr/>
        </p:nvSpPr>
        <p:spPr>
          <a:xfrm>
            <a:off x="274320" y="2048256"/>
            <a:ext cx="2834640" cy="45720"/>
          </a:xfrm>
          <a:prstGeom prst="rect">
            <a:avLst/>
          </a:prstGeom>
          <a:solidFill>
            <a:srgbClr val="E67E22"/>
          </a:solidFill>
          <a:ln w="12700">
            <a:solidFill>
              <a:srgbClr val="E67E22"/>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1444752" y="2139696"/>
            <a:ext cx="475488" cy="475488"/>
          </a:xfrm>
          <a:prstGeom prst="rect">
            <a:avLst/>
          </a:prstGeom>
        </p:spPr>
      </p:pic>
      <p:sp>
        <p:nvSpPr>
          <p:cNvPr id="12" name="Text 8"/>
          <p:cNvSpPr/>
          <p:nvPr/>
        </p:nvSpPr>
        <p:spPr>
          <a:xfrm>
            <a:off x="411480" y="2688336"/>
            <a:ext cx="25603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Full admin access</a:t>
            </a:r>
            <a:endParaRPr lang="en-US" sz="1100" dirty="0"/>
          </a:p>
        </p:txBody>
      </p:sp>
      <p:sp>
        <p:nvSpPr>
          <p:cNvPr id="13" name="Shape 9"/>
          <p:cNvSpPr/>
          <p:nvPr/>
        </p:nvSpPr>
        <p:spPr>
          <a:xfrm>
            <a:off x="411480" y="3054096"/>
            <a:ext cx="2560320" cy="27432"/>
          </a:xfrm>
          <a:prstGeom prst="rect">
            <a:avLst/>
          </a:prstGeom>
          <a:solidFill>
            <a:srgbClr val="1C2E44"/>
          </a:solidFill>
          <a:ln w="12700">
            <a:solidFill>
              <a:srgbClr val="1C2E44"/>
            </a:solidFill>
            <a:prstDash val="solid"/>
          </a:ln>
        </p:spPr>
        <p:txBody>
          <a:bodyPr/>
          <a:lstStyle/>
          <a:p>
            <a:endParaRPr lang="en-US"/>
          </a:p>
        </p:txBody>
      </p:sp>
      <p:sp>
        <p:nvSpPr>
          <p:cNvPr id="14" name="Text 10"/>
          <p:cNvSpPr/>
          <p:nvPr/>
        </p:nvSpPr>
        <p:spPr>
          <a:xfrm>
            <a:off x="411480" y="3145536"/>
            <a:ext cx="2560320" cy="1481328"/>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The account that ran the file had administrator-level permissions. The malware inherited the same level of control with no extra steps needed.</a:t>
            </a:r>
            <a:endParaRPr lang="en-US" sz="950" dirty="0"/>
          </a:p>
        </p:txBody>
      </p:sp>
      <p:sp>
        <p:nvSpPr>
          <p:cNvPr id="15" name="Shape 11"/>
          <p:cNvSpPr/>
          <p:nvPr/>
        </p:nvSpPr>
        <p:spPr>
          <a:xfrm>
            <a:off x="3246120" y="2048256"/>
            <a:ext cx="2834640" cy="2679192"/>
          </a:xfrm>
          <a:prstGeom prst="rect">
            <a:avLst/>
          </a:prstGeom>
          <a:solidFill>
            <a:srgbClr val="152233"/>
          </a:solidFill>
          <a:ln w="12700">
            <a:solidFill>
              <a:srgbClr val="1C2E44"/>
            </a:solidFill>
            <a:prstDash val="solid"/>
          </a:ln>
        </p:spPr>
        <p:txBody>
          <a:bodyPr/>
          <a:lstStyle/>
          <a:p>
            <a:endParaRPr lang="en-US"/>
          </a:p>
        </p:txBody>
      </p:sp>
      <p:sp>
        <p:nvSpPr>
          <p:cNvPr id="16" name="Shape 12"/>
          <p:cNvSpPr/>
          <p:nvPr/>
        </p:nvSpPr>
        <p:spPr>
          <a:xfrm>
            <a:off x="3246120" y="2048256"/>
            <a:ext cx="2834640" cy="45720"/>
          </a:xfrm>
          <a:prstGeom prst="rect">
            <a:avLst/>
          </a:prstGeom>
          <a:solidFill>
            <a:srgbClr val="C0392B"/>
          </a:solidFill>
          <a:ln w="12700">
            <a:solidFill>
              <a:srgbClr val="C0392B"/>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416552" y="2139696"/>
            <a:ext cx="475488" cy="475488"/>
          </a:xfrm>
          <a:prstGeom prst="rect">
            <a:avLst/>
          </a:prstGeom>
        </p:spPr>
      </p:pic>
      <p:sp>
        <p:nvSpPr>
          <p:cNvPr id="18" name="Text 13"/>
          <p:cNvSpPr/>
          <p:nvPr/>
        </p:nvSpPr>
        <p:spPr>
          <a:xfrm>
            <a:off x="3383280" y="2688336"/>
            <a:ext cx="25603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 endpoint protection</a:t>
            </a:r>
            <a:endParaRPr lang="en-US" sz="1100" dirty="0"/>
          </a:p>
        </p:txBody>
      </p:sp>
      <p:sp>
        <p:nvSpPr>
          <p:cNvPr id="19" name="Shape 14"/>
          <p:cNvSpPr/>
          <p:nvPr/>
        </p:nvSpPr>
        <p:spPr>
          <a:xfrm>
            <a:off x="3383280" y="3054096"/>
            <a:ext cx="2560320" cy="27432"/>
          </a:xfrm>
          <a:prstGeom prst="rect">
            <a:avLst/>
          </a:prstGeom>
          <a:solidFill>
            <a:srgbClr val="1C2E44"/>
          </a:solidFill>
          <a:ln w="12700">
            <a:solidFill>
              <a:srgbClr val="1C2E44"/>
            </a:solidFill>
            <a:prstDash val="solid"/>
          </a:ln>
        </p:spPr>
        <p:txBody>
          <a:bodyPr/>
          <a:lstStyle/>
          <a:p>
            <a:endParaRPr lang="en-US"/>
          </a:p>
        </p:txBody>
      </p:sp>
      <p:sp>
        <p:nvSpPr>
          <p:cNvPr id="20" name="Text 15"/>
          <p:cNvSpPr/>
          <p:nvPr/>
        </p:nvSpPr>
        <p:spPr>
          <a:xfrm>
            <a:off x="3383280" y="3145536"/>
            <a:ext cx="2560320" cy="1481328"/>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Nothing on this device flagged or blocked the malicious file before it ran. Endpoint security tools — the computer equivalent of a security guard — were absent.</a:t>
            </a:r>
            <a:endParaRPr lang="en-US" sz="950" dirty="0"/>
          </a:p>
        </p:txBody>
      </p:sp>
      <p:sp>
        <p:nvSpPr>
          <p:cNvPr id="21" name="Shape 16"/>
          <p:cNvSpPr/>
          <p:nvPr/>
        </p:nvSpPr>
        <p:spPr>
          <a:xfrm>
            <a:off x="6217920" y="2048256"/>
            <a:ext cx="2834640" cy="2679192"/>
          </a:xfrm>
          <a:prstGeom prst="rect">
            <a:avLst/>
          </a:prstGeom>
          <a:solidFill>
            <a:srgbClr val="152233"/>
          </a:solidFill>
          <a:ln w="12700">
            <a:solidFill>
              <a:srgbClr val="1C2E44"/>
            </a:solidFill>
            <a:prstDash val="solid"/>
          </a:ln>
        </p:spPr>
        <p:txBody>
          <a:bodyPr/>
          <a:lstStyle/>
          <a:p>
            <a:endParaRPr lang="en-US"/>
          </a:p>
        </p:txBody>
      </p:sp>
      <p:sp>
        <p:nvSpPr>
          <p:cNvPr id="22" name="Shape 17"/>
          <p:cNvSpPr/>
          <p:nvPr/>
        </p:nvSpPr>
        <p:spPr>
          <a:xfrm>
            <a:off x="6217920" y="2048256"/>
            <a:ext cx="2834640" cy="45720"/>
          </a:xfrm>
          <a:prstGeom prst="rect">
            <a:avLst/>
          </a:prstGeom>
          <a:solidFill>
            <a:srgbClr val="E67E22"/>
          </a:solidFill>
          <a:ln w="12700">
            <a:solidFill>
              <a:srgbClr val="E67E22"/>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388352" y="2139696"/>
            <a:ext cx="475488" cy="475488"/>
          </a:xfrm>
          <a:prstGeom prst="rect">
            <a:avLst/>
          </a:prstGeom>
        </p:spPr>
      </p:pic>
      <p:sp>
        <p:nvSpPr>
          <p:cNvPr id="24" name="Text 18"/>
          <p:cNvSpPr/>
          <p:nvPr/>
        </p:nvSpPr>
        <p:spPr>
          <a:xfrm>
            <a:off x="6355080" y="2688336"/>
            <a:ext cx="25603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 wall between devices</a:t>
            </a:r>
            <a:endParaRPr lang="en-US" sz="1100" dirty="0"/>
          </a:p>
        </p:txBody>
      </p:sp>
      <p:sp>
        <p:nvSpPr>
          <p:cNvPr id="25" name="Shape 19"/>
          <p:cNvSpPr/>
          <p:nvPr/>
        </p:nvSpPr>
        <p:spPr>
          <a:xfrm>
            <a:off x="6355080" y="3054096"/>
            <a:ext cx="2560320" cy="27432"/>
          </a:xfrm>
          <a:prstGeom prst="rect">
            <a:avLst/>
          </a:prstGeom>
          <a:solidFill>
            <a:srgbClr val="1C2E44"/>
          </a:solidFill>
          <a:ln w="12700">
            <a:solidFill>
              <a:srgbClr val="1C2E44"/>
            </a:solidFill>
            <a:prstDash val="solid"/>
          </a:ln>
        </p:spPr>
        <p:txBody>
          <a:bodyPr/>
          <a:lstStyle/>
          <a:p>
            <a:endParaRPr lang="en-US"/>
          </a:p>
        </p:txBody>
      </p:sp>
      <p:sp>
        <p:nvSpPr>
          <p:cNvPr id="26" name="Text 20"/>
          <p:cNvSpPr/>
          <p:nvPr/>
        </p:nvSpPr>
        <p:spPr>
          <a:xfrm>
            <a:off x="6355080" y="3145536"/>
            <a:ext cx="2560320" cy="1481328"/>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Once in, nothing stopped the attacker crossing to other machines. The two computers could communicate freely with no network separation in place.</a:t>
            </a:r>
            <a:endParaRPr lang="en-US" sz="950" dirty="0"/>
          </a:p>
        </p:txBody>
      </p:sp>
      <p:sp>
        <p:nvSpPr>
          <p:cNvPr id="27" name="Shape 21"/>
          <p:cNvSpPr/>
          <p:nvPr/>
        </p:nvSpPr>
        <p:spPr>
          <a:xfrm>
            <a:off x="0" y="4846320"/>
            <a:ext cx="9144000" cy="297180"/>
          </a:xfrm>
          <a:prstGeom prst="rect">
            <a:avLst/>
          </a:prstGeom>
          <a:solidFill>
            <a:srgbClr val="152233"/>
          </a:solidFill>
          <a:ln w="12700">
            <a:solidFill>
              <a:srgbClr val="152233"/>
            </a:solidFill>
            <a:prstDash val="solid"/>
          </a:ln>
        </p:spPr>
        <p:txBody>
          <a:bodyPr/>
          <a:lstStyle/>
          <a:p>
            <a:endParaRPr lang="en-US"/>
          </a:p>
        </p:txBody>
      </p:sp>
      <p:sp>
        <p:nvSpPr>
          <p:cNvPr id="28" name="Text 22"/>
          <p:cNvSpPr/>
          <p:nvPr/>
        </p:nvSpPr>
        <p:spPr>
          <a:xfrm>
            <a:off x="274320" y="4864608"/>
            <a:ext cx="8595360" cy="256032"/>
          </a:xfrm>
          <a:prstGeom prst="rect">
            <a:avLst/>
          </a:prstGeom>
          <a:noFill/>
          <a:ln/>
        </p:spPr>
        <p:txBody>
          <a:bodyPr wrap="square" rtlCol="0" anchor="ctr"/>
          <a:lstStyle/>
          <a:p>
            <a:pPr marL="0" indent="0" algn="ctr">
              <a:buNone/>
            </a:pPr>
            <a:r>
              <a:rPr lang="en-US" sz="750" dirty="0">
                <a:solidFill>
                  <a:srgbClr val="8AAABB"/>
                </a:solidFill>
                <a:latin typeface="Calibri" pitchFamily="34" charset="0"/>
                <a:ea typeface="Calibri" pitchFamily="34" charset="-122"/>
                <a:cs typeface="Calibri" pitchFamily="34" charset="-120"/>
              </a:rPr>
              <a:t>Maxine Jones  ·  Lumen Soda Endpoint IR Investigation </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233"/>
          </a:solidFill>
          <a:ln w="12700">
            <a:solidFill>
              <a:srgbClr val="152233"/>
            </a:solidFill>
            <a:prstDash val="solid"/>
          </a:ln>
        </p:spPr>
        <p:txBody>
          <a:bodyPr/>
          <a:lstStyle/>
          <a:p>
            <a:endParaRPr lang="en-US"/>
          </a:p>
        </p:txBody>
      </p:sp>
      <p:sp>
        <p:nvSpPr>
          <p:cNvPr id="3" name="Shape 1"/>
          <p:cNvSpPr/>
          <p:nvPr/>
        </p:nvSpPr>
        <p:spPr>
          <a:xfrm>
            <a:off x="0" y="658368"/>
            <a:ext cx="9144000" cy="45720"/>
          </a:xfrm>
          <a:prstGeom prst="rect">
            <a:avLst/>
          </a:prstGeom>
          <a:solidFill>
            <a:srgbClr val="C9A846"/>
          </a:solidFill>
          <a:ln w="12700">
            <a:solidFill>
              <a:srgbClr val="C9A846"/>
            </a:solidFill>
            <a:prstDash val="solid"/>
          </a:ln>
        </p:spPr>
        <p:txBody>
          <a:bodyPr/>
          <a:lstStyle/>
          <a:p>
            <a:endParaRPr lang="en-US"/>
          </a:p>
        </p:txBody>
      </p:sp>
      <p:sp>
        <p:nvSpPr>
          <p:cNvPr id="4" name="Text 2"/>
          <p:cNvSpPr/>
          <p:nvPr/>
        </p:nvSpPr>
        <p:spPr>
          <a:xfrm>
            <a:off x="365760" y="9144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Far Did They Get?</a:t>
            </a:r>
            <a:endParaRPr lang="en-US" sz="2400" dirty="0"/>
          </a:p>
        </p:txBody>
      </p:sp>
      <p:sp>
        <p:nvSpPr>
          <p:cNvPr id="5" name="Text 3"/>
          <p:cNvSpPr/>
          <p:nvPr/>
        </p:nvSpPr>
        <p:spPr>
          <a:xfrm>
            <a:off x="365760" y="768096"/>
            <a:ext cx="8412480" cy="256032"/>
          </a:xfrm>
          <a:prstGeom prst="rect">
            <a:avLst/>
          </a:prstGeom>
          <a:noFill/>
          <a:ln/>
        </p:spPr>
        <p:txBody>
          <a:bodyPr wrap="square" rtlCol="0" anchor="ctr"/>
          <a:lstStyle/>
          <a:p>
            <a:pPr marL="0" indent="0">
              <a:buNone/>
            </a:pPr>
            <a:r>
              <a:rPr lang="en-US" sz="1100" i="1" dirty="0">
                <a:solidFill>
                  <a:srgbClr val="8AAABB"/>
                </a:solidFill>
                <a:latin typeface="Calibri" pitchFamily="34" charset="0"/>
                <a:ea typeface="Calibri" pitchFamily="34" charset="-122"/>
                <a:cs typeface="Calibri" pitchFamily="34" charset="-120"/>
              </a:rPr>
              <a:t>The attacker didn't stop at one machine — they crossed the network to a second and had full access to it.</a:t>
            </a:r>
            <a:endParaRPr lang="en-US" sz="1100" dirty="0"/>
          </a:p>
        </p:txBody>
      </p:sp>
      <p:sp>
        <p:nvSpPr>
          <p:cNvPr id="6" name="Shape 4"/>
          <p:cNvSpPr/>
          <p:nvPr/>
        </p:nvSpPr>
        <p:spPr>
          <a:xfrm>
            <a:off x="274320" y="1115568"/>
            <a:ext cx="4251960" cy="3621024"/>
          </a:xfrm>
          <a:prstGeom prst="rect">
            <a:avLst/>
          </a:prstGeom>
          <a:solidFill>
            <a:srgbClr val="152233"/>
          </a:solidFill>
          <a:ln w="12700">
            <a:solidFill>
              <a:srgbClr val="1C2E44"/>
            </a:solidFill>
            <a:prstDash val="solid"/>
          </a:ln>
        </p:spPr>
        <p:txBody>
          <a:bodyPr/>
          <a:lstStyle/>
          <a:p>
            <a:endParaRPr lang="en-US"/>
          </a:p>
        </p:txBody>
      </p:sp>
      <p:sp>
        <p:nvSpPr>
          <p:cNvPr id="7" name="Shape 5"/>
          <p:cNvSpPr/>
          <p:nvPr/>
        </p:nvSpPr>
        <p:spPr>
          <a:xfrm>
            <a:off x="274320" y="1115568"/>
            <a:ext cx="4251960" cy="45720"/>
          </a:xfrm>
          <a:prstGeom prst="rect">
            <a:avLst/>
          </a:prstGeom>
          <a:solidFill>
            <a:srgbClr val="E67E22"/>
          </a:solidFill>
          <a:ln w="12700">
            <a:solidFill>
              <a:srgbClr val="E67E22"/>
            </a:solidFill>
            <a:prstDash val="solid"/>
          </a:ln>
        </p:spPr>
        <p:txBody>
          <a:bodyPr/>
          <a:lstStyle/>
          <a:p>
            <a:endParaRPr lang="en-US"/>
          </a:p>
        </p:txBody>
      </p:sp>
      <p:sp>
        <p:nvSpPr>
          <p:cNvPr id="8" name="Text 6"/>
          <p:cNvSpPr/>
          <p:nvPr/>
        </p:nvSpPr>
        <p:spPr>
          <a:xfrm>
            <a:off x="411480" y="1188720"/>
            <a:ext cx="39776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Original Machine</a:t>
            </a:r>
            <a:endParaRPr lang="en-US" sz="1150" dirty="0"/>
          </a:p>
        </p:txBody>
      </p:sp>
      <p:sp>
        <p:nvSpPr>
          <p:cNvPr id="9" name="Shape 7"/>
          <p:cNvSpPr/>
          <p:nvPr/>
        </p:nvSpPr>
        <p:spPr>
          <a:xfrm>
            <a:off x="411480" y="1499616"/>
            <a:ext cx="1920240" cy="219456"/>
          </a:xfrm>
          <a:prstGeom prst="rect">
            <a:avLst/>
          </a:prstGeom>
          <a:solidFill>
            <a:srgbClr val="E67E22"/>
          </a:solidFill>
          <a:ln w="12700">
            <a:solidFill>
              <a:srgbClr val="E67E22"/>
            </a:solidFill>
            <a:prstDash val="solid"/>
          </a:ln>
        </p:spPr>
        <p:txBody>
          <a:bodyPr/>
          <a:lstStyle/>
          <a:p>
            <a:endParaRPr lang="en-US"/>
          </a:p>
        </p:txBody>
      </p:sp>
      <p:sp>
        <p:nvSpPr>
          <p:cNvPr id="10" name="Text 8"/>
          <p:cNvSpPr/>
          <p:nvPr/>
        </p:nvSpPr>
        <p:spPr>
          <a:xfrm>
            <a:off x="411480" y="1499616"/>
            <a:ext cx="1920240" cy="219456"/>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Starting point — fully compromised</a:t>
            </a:r>
            <a:endParaRPr lang="en-US" sz="750" dirty="0"/>
          </a:p>
        </p:txBody>
      </p:sp>
      <p:sp>
        <p:nvSpPr>
          <p:cNvPr id="11" name="Text 9"/>
          <p:cNvSpPr/>
          <p:nvPr/>
        </p:nvSpPr>
        <p:spPr>
          <a:xfrm>
            <a:off x="411480" y="1810512"/>
            <a:ext cx="3977640" cy="2816352"/>
          </a:xfrm>
          <a:prstGeom prst="rect">
            <a:avLst/>
          </a:prstGeom>
          <a:noFill/>
          <a:ln/>
        </p:spPr>
        <p:txBody>
          <a:bodyPr wrap="square" rtlCol="0" anchor="ctr"/>
          <a:lstStyle/>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Malicious file ran with full administrator access — no barriers</a:t>
            </a:r>
            <a:endParaRPr lang="en-US" sz="950" dirty="0"/>
          </a:p>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A second hidden program was installed into the Windows system folder</a:t>
            </a:r>
            <a:endParaRPr lang="en-US" sz="950" dirty="0"/>
          </a:p>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Used as a launchpad to reach other devices on the network</a:t>
            </a:r>
            <a:endParaRPr lang="en-US" sz="950" dirty="0"/>
          </a:p>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The malware was aware of security tools and actively avoided detection</a:t>
            </a:r>
            <a:endParaRPr lang="en-US" sz="950" dirty="0"/>
          </a:p>
        </p:txBody>
      </p:sp>
      <p:sp>
        <p:nvSpPr>
          <p:cNvPr id="12" name="Shape 10"/>
          <p:cNvSpPr/>
          <p:nvPr/>
        </p:nvSpPr>
        <p:spPr>
          <a:xfrm>
            <a:off x="4709160" y="1115568"/>
            <a:ext cx="4251960" cy="3621024"/>
          </a:xfrm>
          <a:prstGeom prst="rect">
            <a:avLst/>
          </a:prstGeom>
          <a:solidFill>
            <a:srgbClr val="152233"/>
          </a:solidFill>
          <a:ln w="12700">
            <a:solidFill>
              <a:srgbClr val="1C2E44"/>
            </a:solidFill>
            <a:prstDash val="solid"/>
          </a:ln>
        </p:spPr>
        <p:txBody>
          <a:bodyPr/>
          <a:lstStyle/>
          <a:p>
            <a:endParaRPr lang="en-US"/>
          </a:p>
        </p:txBody>
      </p:sp>
      <p:sp>
        <p:nvSpPr>
          <p:cNvPr id="13" name="Shape 11"/>
          <p:cNvSpPr/>
          <p:nvPr/>
        </p:nvSpPr>
        <p:spPr>
          <a:xfrm>
            <a:off x="4709160" y="1115568"/>
            <a:ext cx="4251960" cy="45720"/>
          </a:xfrm>
          <a:prstGeom prst="rect">
            <a:avLst/>
          </a:prstGeom>
          <a:solidFill>
            <a:srgbClr val="C0392B"/>
          </a:solidFill>
          <a:ln w="12700">
            <a:solidFill>
              <a:srgbClr val="C0392B"/>
            </a:solidFill>
            <a:prstDash val="solid"/>
          </a:ln>
        </p:spPr>
        <p:txBody>
          <a:bodyPr/>
          <a:lstStyle/>
          <a:p>
            <a:endParaRPr lang="en-US"/>
          </a:p>
        </p:txBody>
      </p:sp>
      <p:sp>
        <p:nvSpPr>
          <p:cNvPr id="14" name="Text 12"/>
          <p:cNvSpPr/>
          <p:nvPr/>
        </p:nvSpPr>
        <p:spPr>
          <a:xfrm>
            <a:off x="4846320" y="1188720"/>
            <a:ext cx="39776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Second Machine</a:t>
            </a:r>
            <a:endParaRPr lang="en-US" sz="1150" dirty="0"/>
          </a:p>
        </p:txBody>
      </p:sp>
      <p:sp>
        <p:nvSpPr>
          <p:cNvPr id="15" name="Shape 13"/>
          <p:cNvSpPr/>
          <p:nvPr/>
        </p:nvSpPr>
        <p:spPr>
          <a:xfrm>
            <a:off x="4846320" y="1499616"/>
            <a:ext cx="1920240" cy="219456"/>
          </a:xfrm>
          <a:prstGeom prst="rect">
            <a:avLst/>
          </a:prstGeom>
          <a:solidFill>
            <a:srgbClr val="C0392B"/>
          </a:solidFill>
          <a:ln w="12700">
            <a:solidFill>
              <a:srgbClr val="C0392B"/>
            </a:solidFill>
            <a:prstDash val="solid"/>
          </a:ln>
        </p:spPr>
        <p:txBody>
          <a:bodyPr/>
          <a:lstStyle/>
          <a:p>
            <a:endParaRPr lang="en-US"/>
          </a:p>
        </p:txBody>
      </p:sp>
      <p:sp>
        <p:nvSpPr>
          <p:cNvPr id="16" name="Text 14"/>
          <p:cNvSpPr/>
          <p:nvPr/>
        </p:nvSpPr>
        <p:spPr>
          <a:xfrm>
            <a:off x="4846320" y="1499616"/>
            <a:ext cx="1920240" cy="219456"/>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Reached via network — also compromised</a:t>
            </a:r>
            <a:endParaRPr lang="en-US" sz="750" dirty="0"/>
          </a:p>
        </p:txBody>
      </p:sp>
      <p:sp>
        <p:nvSpPr>
          <p:cNvPr id="17" name="Text 15"/>
          <p:cNvSpPr/>
          <p:nvPr/>
        </p:nvSpPr>
        <p:spPr>
          <a:xfrm>
            <a:off x="4846320" y="1810512"/>
            <a:ext cx="3977640" cy="2816352"/>
          </a:xfrm>
          <a:prstGeom prst="rect">
            <a:avLst/>
          </a:prstGeom>
          <a:noFill/>
          <a:ln/>
        </p:spPr>
        <p:txBody>
          <a:bodyPr wrap="square" rtlCol="0" anchor="ctr"/>
          <a:lstStyle/>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Attacker connected remotely using stolen credentials from the first machine</a:t>
            </a:r>
            <a:endParaRPr lang="en-US" sz="950" dirty="0"/>
          </a:p>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Accessed cloud configuration files — potentially exposing cloud service login tokens</a:t>
            </a:r>
            <a:endParaRPr lang="en-US" sz="950" dirty="0"/>
          </a:p>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Accessed developer history files — revealing commands, servers, and private keys</a:t>
            </a:r>
            <a:endParaRPr lang="en-US" sz="950" dirty="0"/>
          </a:p>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Left behind files with names matching known ransomware patterns</a:t>
            </a:r>
            <a:endParaRPr lang="en-US" sz="950" dirty="0"/>
          </a:p>
          <a:p>
            <a:pPr marL="342900" indent="-342900">
              <a:spcAft>
                <a:spcPts val="500"/>
              </a:spcAft>
              <a:buSzPct val="100000"/>
              <a:buChar char="•"/>
            </a:pPr>
            <a:r>
              <a:rPr lang="en-US" sz="950" dirty="0">
                <a:solidFill>
                  <a:srgbClr val="E8EDF3"/>
                </a:solidFill>
                <a:latin typeface="Calibri" pitchFamily="34" charset="0"/>
                <a:ea typeface="Calibri" pitchFamily="34" charset="-122"/>
                <a:cs typeface="Calibri" pitchFamily="34" charset="-120"/>
              </a:rPr>
              <a:t>Sensitive developer directories fully visible and accessible</a:t>
            </a:r>
            <a:endParaRPr lang="en-US" sz="950" dirty="0"/>
          </a:p>
        </p:txBody>
      </p:sp>
      <p:sp>
        <p:nvSpPr>
          <p:cNvPr id="18" name="Text 16"/>
          <p:cNvSpPr/>
          <p:nvPr/>
        </p:nvSpPr>
        <p:spPr>
          <a:xfrm>
            <a:off x="4325112" y="2423160"/>
            <a:ext cx="493776" cy="329184"/>
          </a:xfrm>
          <a:prstGeom prst="rect">
            <a:avLst/>
          </a:prstGeom>
          <a:noFill/>
          <a:ln/>
        </p:spPr>
        <p:txBody>
          <a:bodyPr wrap="square" rtlCol="0" anchor="ctr"/>
          <a:lstStyle/>
          <a:p>
            <a:pPr marL="0" indent="0" algn="ctr">
              <a:buNone/>
            </a:pPr>
            <a:r>
              <a:rPr lang="en-US" sz="2200" dirty="0">
                <a:solidFill>
                  <a:srgbClr val="C9A846"/>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4297680" y="2779776"/>
            <a:ext cx="548640" cy="365760"/>
          </a:xfrm>
          <a:prstGeom prst="rect">
            <a:avLst/>
          </a:prstGeom>
          <a:noFill/>
          <a:ln/>
        </p:spPr>
        <p:txBody>
          <a:bodyPr wrap="square" rtlCol="0" anchor="ctr"/>
          <a:lstStyle/>
          <a:p>
            <a:pPr marL="0" indent="0" algn="ctr">
              <a:buNone/>
            </a:pPr>
            <a:r>
              <a:rPr lang="en-US" sz="700" i="1" dirty="0">
                <a:solidFill>
                  <a:srgbClr val="8AAABB"/>
                </a:solidFill>
                <a:latin typeface="Calibri" pitchFamily="34" charset="0"/>
                <a:ea typeface="Calibri" pitchFamily="34" charset="-122"/>
                <a:cs typeface="Calibri" pitchFamily="34" charset="-120"/>
              </a:rPr>
              <a:t>lateral</a:t>
            </a:r>
            <a:endParaRPr lang="en-US" sz="700" dirty="0"/>
          </a:p>
          <a:p>
            <a:pPr marL="0" indent="0" algn="ctr">
              <a:buNone/>
            </a:pPr>
            <a:r>
              <a:rPr lang="en-US" sz="700" i="1" dirty="0">
                <a:solidFill>
                  <a:srgbClr val="8AAABB"/>
                </a:solidFill>
                <a:latin typeface="Calibri" pitchFamily="34" charset="0"/>
                <a:ea typeface="Calibri" pitchFamily="34" charset="-122"/>
                <a:cs typeface="Calibri" pitchFamily="34" charset="-120"/>
              </a:rPr>
              <a:t>movement</a:t>
            </a:r>
            <a:endParaRPr lang="en-US" sz="700" dirty="0"/>
          </a:p>
        </p:txBody>
      </p:sp>
      <p:sp>
        <p:nvSpPr>
          <p:cNvPr id="20" name="Shape 18"/>
          <p:cNvSpPr/>
          <p:nvPr/>
        </p:nvSpPr>
        <p:spPr>
          <a:xfrm>
            <a:off x="0" y="4846320"/>
            <a:ext cx="9144000" cy="297180"/>
          </a:xfrm>
          <a:prstGeom prst="rect">
            <a:avLst/>
          </a:prstGeom>
          <a:solidFill>
            <a:srgbClr val="152233"/>
          </a:solidFill>
          <a:ln w="12700">
            <a:solidFill>
              <a:srgbClr val="152233"/>
            </a:solidFill>
            <a:prstDash val="solid"/>
          </a:ln>
        </p:spPr>
        <p:txBody>
          <a:bodyPr/>
          <a:lstStyle/>
          <a:p>
            <a:endParaRPr lang="en-US"/>
          </a:p>
        </p:txBody>
      </p:sp>
      <p:sp>
        <p:nvSpPr>
          <p:cNvPr id="21" name="Text 19"/>
          <p:cNvSpPr/>
          <p:nvPr/>
        </p:nvSpPr>
        <p:spPr>
          <a:xfrm>
            <a:off x="274320" y="4864608"/>
            <a:ext cx="8595360" cy="256032"/>
          </a:xfrm>
          <a:prstGeom prst="rect">
            <a:avLst/>
          </a:prstGeom>
          <a:noFill/>
          <a:ln/>
        </p:spPr>
        <p:txBody>
          <a:bodyPr wrap="square" rtlCol="0" anchor="ctr"/>
          <a:lstStyle/>
          <a:p>
            <a:pPr marL="0" indent="0" algn="ctr">
              <a:buNone/>
            </a:pPr>
            <a:r>
              <a:rPr lang="en-US" sz="750" dirty="0">
                <a:solidFill>
                  <a:srgbClr val="8AAABB"/>
                </a:solidFill>
                <a:latin typeface="Calibri" pitchFamily="34" charset="0"/>
                <a:ea typeface="Calibri" pitchFamily="34" charset="-122"/>
                <a:cs typeface="Calibri" pitchFamily="34" charset="-120"/>
              </a:rPr>
              <a:t>Maxine Jones  ·  Lumen Soda Endpoint IR Investigation </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233"/>
          </a:solidFill>
          <a:ln w="12700">
            <a:solidFill>
              <a:srgbClr val="152233"/>
            </a:solidFill>
            <a:prstDash val="solid"/>
          </a:ln>
        </p:spPr>
        <p:txBody>
          <a:bodyPr/>
          <a:lstStyle/>
          <a:p>
            <a:endParaRPr lang="en-US"/>
          </a:p>
        </p:txBody>
      </p:sp>
      <p:sp>
        <p:nvSpPr>
          <p:cNvPr id="3" name="Shape 1"/>
          <p:cNvSpPr/>
          <p:nvPr/>
        </p:nvSpPr>
        <p:spPr>
          <a:xfrm>
            <a:off x="0" y="658368"/>
            <a:ext cx="9144000" cy="45720"/>
          </a:xfrm>
          <a:prstGeom prst="rect">
            <a:avLst/>
          </a:prstGeom>
          <a:solidFill>
            <a:srgbClr val="C9A846"/>
          </a:solidFill>
          <a:ln w="12700">
            <a:solidFill>
              <a:srgbClr val="C9A846"/>
            </a:solidFill>
            <a:prstDash val="solid"/>
          </a:ln>
        </p:spPr>
        <p:txBody>
          <a:bodyPr/>
          <a:lstStyle/>
          <a:p>
            <a:endParaRPr lang="en-US"/>
          </a:p>
        </p:txBody>
      </p:sp>
      <p:sp>
        <p:nvSpPr>
          <p:cNvPr id="4" name="Text 2"/>
          <p:cNvSpPr/>
          <p:nvPr/>
        </p:nvSpPr>
        <p:spPr>
          <a:xfrm>
            <a:off x="365760" y="9144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Was at Risk</a:t>
            </a:r>
            <a:endParaRPr lang="en-US" sz="2400" dirty="0"/>
          </a:p>
        </p:txBody>
      </p:sp>
      <p:sp>
        <p:nvSpPr>
          <p:cNvPr id="5" name="Text 3"/>
          <p:cNvSpPr/>
          <p:nvPr/>
        </p:nvSpPr>
        <p:spPr>
          <a:xfrm>
            <a:off x="365760" y="768096"/>
            <a:ext cx="8412480" cy="256032"/>
          </a:xfrm>
          <a:prstGeom prst="rect">
            <a:avLst/>
          </a:prstGeom>
          <a:noFill/>
          <a:ln/>
        </p:spPr>
        <p:txBody>
          <a:bodyPr wrap="square" rtlCol="0" anchor="ctr"/>
          <a:lstStyle/>
          <a:p>
            <a:pPr marL="0" indent="0">
              <a:buNone/>
            </a:pPr>
            <a:r>
              <a:rPr lang="en-US" sz="1100" i="1" dirty="0">
                <a:solidFill>
                  <a:srgbClr val="8AAABB"/>
                </a:solidFill>
                <a:latin typeface="Calibri" pitchFamily="34" charset="0"/>
                <a:ea typeface="Calibri" pitchFamily="34" charset="-122"/>
                <a:cs typeface="Calibri" pitchFamily="34" charset="-120"/>
              </a:rPr>
              <a:t>The second machine contained files that could give an attacker reach far beyond a single computer.</a:t>
            </a:r>
            <a:endParaRPr lang="en-US" sz="1100" dirty="0"/>
          </a:p>
        </p:txBody>
      </p:sp>
      <p:sp>
        <p:nvSpPr>
          <p:cNvPr id="6" name="Shape 4"/>
          <p:cNvSpPr/>
          <p:nvPr/>
        </p:nvSpPr>
        <p:spPr>
          <a:xfrm>
            <a:off x="228600" y="1115568"/>
            <a:ext cx="2834640" cy="1572768"/>
          </a:xfrm>
          <a:prstGeom prst="rect">
            <a:avLst/>
          </a:prstGeom>
          <a:solidFill>
            <a:srgbClr val="152233"/>
          </a:solidFill>
          <a:ln w="12700">
            <a:solidFill>
              <a:srgbClr val="1C2E44"/>
            </a:solidFill>
            <a:prstDash val="solid"/>
          </a:ln>
        </p:spPr>
        <p:txBody>
          <a:bodyPr/>
          <a:lstStyle/>
          <a:p>
            <a:endParaRPr lang="en-US"/>
          </a:p>
        </p:txBody>
      </p:sp>
      <p:sp>
        <p:nvSpPr>
          <p:cNvPr id="7" name="Shape 5"/>
          <p:cNvSpPr/>
          <p:nvPr/>
        </p:nvSpPr>
        <p:spPr>
          <a:xfrm>
            <a:off x="228600" y="1115568"/>
            <a:ext cx="54864" cy="1572768"/>
          </a:xfrm>
          <a:prstGeom prst="rect">
            <a:avLst/>
          </a:prstGeom>
          <a:solidFill>
            <a:srgbClr val="C0392B"/>
          </a:solidFill>
          <a:ln w="12700">
            <a:solidFill>
              <a:srgbClr val="C0392B"/>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356616" y="1225296"/>
            <a:ext cx="329184" cy="329184"/>
          </a:xfrm>
          <a:prstGeom prst="rect">
            <a:avLst/>
          </a:prstGeom>
        </p:spPr>
      </p:pic>
      <p:sp>
        <p:nvSpPr>
          <p:cNvPr id="9" name="Text 6"/>
          <p:cNvSpPr/>
          <p:nvPr/>
        </p:nvSpPr>
        <p:spPr>
          <a:xfrm>
            <a:off x="777240" y="1207008"/>
            <a:ext cx="2194560" cy="329184"/>
          </a:xfrm>
          <a:prstGeom prst="rect">
            <a:avLst/>
          </a:prstGeom>
          <a:noFill/>
          <a:ln/>
        </p:spPr>
        <p:txBody>
          <a:bodyPr wrap="square" lIns="0" tIns="0" rIns="0" bIns="0"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Cloud Access</a:t>
            </a:r>
            <a:endParaRPr lang="en-US" sz="1050" dirty="0"/>
          </a:p>
        </p:txBody>
      </p:sp>
      <p:sp>
        <p:nvSpPr>
          <p:cNvPr id="10" name="Shape 7"/>
          <p:cNvSpPr/>
          <p:nvPr/>
        </p:nvSpPr>
        <p:spPr>
          <a:xfrm>
            <a:off x="356616" y="1618488"/>
            <a:ext cx="2596896" cy="27432"/>
          </a:xfrm>
          <a:prstGeom prst="rect">
            <a:avLst/>
          </a:prstGeom>
          <a:solidFill>
            <a:srgbClr val="1C2E44"/>
          </a:solidFill>
          <a:ln w="12700">
            <a:solidFill>
              <a:srgbClr val="1C2E44"/>
            </a:solidFill>
            <a:prstDash val="solid"/>
          </a:ln>
        </p:spPr>
        <p:txBody>
          <a:bodyPr/>
          <a:lstStyle/>
          <a:p>
            <a:endParaRPr lang="en-US"/>
          </a:p>
        </p:txBody>
      </p:sp>
      <p:sp>
        <p:nvSpPr>
          <p:cNvPr id="11" name="Text 8"/>
          <p:cNvSpPr/>
          <p:nvPr/>
        </p:nvSpPr>
        <p:spPr>
          <a:xfrm>
            <a:off x="356616" y="1700784"/>
            <a:ext cx="2596896" cy="914400"/>
          </a:xfrm>
          <a:prstGeom prst="rect">
            <a:avLst/>
          </a:prstGeom>
          <a:noFill/>
          <a:ln/>
        </p:spPr>
        <p:txBody>
          <a:bodyPr wrap="square" rtlCol="0" anchor="ctr"/>
          <a:lstStyle/>
          <a:p>
            <a:pPr marL="0" indent="0">
              <a:buNone/>
            </a:pPr>
            <a:r>
              <a:rPr lang="en-US" sz="880" dirty="0">
                <a:solidFill>
                  <a:srgbClr val="E8EDF3"/>
                </a:solidFill>
                <a:latin typeface="Calibri" pitchFamily="34" charset="0"/>
                <a:ea typeface="Calibri" pitchFamily="34" charset="-122"/>
                <a:cs typeface="Calibri" pitchFamily="34" charset="-120"/>
              </a:rPr>
              <a:t>Files contained tokens for cloud services. With these, an attacker could access cloud-hosted systems and data without needing a password.</a:t>
            </a:r>
            <a:endParaRPr lang="en-US" sz="880" dirty="0"/>
          </a:p>
        </p:txBody>
      </p:sp>
      <p:sp>
        <p:nvSpPr>
          <p:cNvPr id="12" name="Shape 9"/>
          <p:cNvSpPr/>
          <p:nvPr/>
        </p:nvSpPr>
        <p:spPr>
          <a:xfrm>
            <a:off x="3246120" y="1115568"/>
            <a:ext cx="2834640" cy="1572768"/>
          </a:xfrm>
          <a:prstGeom prst="rect">
            <a:avLst/>
          </a:prstGeom>
          <a:solidFill>
            <a:srgbClr val="152233"/>
          </a:solidFill>
          <a:ln w="12700">
            <a:solidFill>
              <a:srgbClr val="1C2E44"/>
            </a:solidFill>
            <a:prstDash val="solid"/>
          </a:ln>
        </p:spPr>
        <p:txBody>
          <a:bodyPr/>
          <a:lstStyle/>
          <a:p>
            <a:endParaRPr lang="en-US"/>
          </a:p>
        </p:txBody>
      </p:sp>
      <p:sp>
        <p:nvSpPr>
          <p:cNvPr id="13" name="Shape 10"/>
          <p:cNvSpPr/>
          <p:nvPr/>
        </p:nvSpPr>
        <p:spPr>
          <a:xfrm>
            <a:off x="3246120" y="1115568"/>
            <a:ext cx="54864" cy="1572768"/>
          </a:xfrm>
          <a:prstGeom prst="rect">
            <a:avLst/>
          </a:prstGeom>
          <a:solidFill>
            <a:srgbClr val="C0392B"/>
          </a:solidFill>
          <a:ln w="12700">
            <a:solidFill>
              <a:srgbClr val="C0392B"/>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374136" y="1225296"/>
            <a:ext cx="329184" cy="329184"/>
          </a:xfrm>
          <a:prstGeom prst="rect">
            <a:avLst/>
          </a:prstGeom>
        </p:spPr>
      </p:pic>
      <p:sp>
        <p:nvSpPr>
          <p:cNvPr id="15" name="Text 11"/>
          <p:cNvSpPr/>
          <p:nvPr/>
        </p:nvSpPr>
        <p:spPr>
          <a:xfrm>
            <a:off x="3794760" y="1207008"/>
            <a:ext cx="2194560" cy="329184"/>
          </a:xfrm>
          <a:prstGeom prst="rect">
            <a:avLst/>
          </a:prstGeom>
          <a:noFill/>
          <a:ln/>
        </p:spPr>
        <p:txBody>
          <a:bodyPr wrap="square" lIns="0" tIns="0" rIns="0" bIns="0"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Developer Secrets</a:t>
            </a:r>
            <a:endParaRPr lang="en-US" sz="1050" dirty="0"/>
          </a:p>
        </p:txBody>
      </p:sp>
      <p:sp>
        <p:nvSpPr>
          <p:cNvPr id="16" name="Shape 12"/>
          <p:cNvSpPr/>
          <p:nvPr/>
        </p:nvSpPr>
        <p:spPr>
          <a:xfrm>
            <a:off x="3374136" y="1618488"/>
            <a:ext cx="2596896" cy="27432"/>
          </a:xfrm>
          <a:prstGeom prst="rect">
            <a:avLst/>
          </a:prstGeom>
          <a:solidFill>
            <a:srgbClr val="1C2E44"/>
          </a:solidFill>
          <a:ln w="12700">
            <a:solidFill>
              <a:srgbClr val="1C2E44"/>
            </a:solidFill>
            <a:prstDash val="solid"/>
          </a:ln>
        </p:spPr>
        <p:txBody>
          <a:bodyPr/>
          <a:lstStyle/>
          <a:p>
            <a:endParaRPr lang="en-US"/>
          </a:p>
        </p:txBody>
      </p:sp>
      <p:sp>
        <p:nvSpPr>
          <p:cNvPr id="17" name="Text 13"/>
          <p:cNvSpPr/>
          <p:nvPr/>
        </p:nvSpPr>
        <p:spPr>
          <a:xfrm>
            <a:off x="3374136" y="1700784"/>
            <a:ext cx="2596896" cy="914400"/>
          </a:xfrm>
          <a:prstGeom prst="rect">
            <a:avLst/>
          </a:prstGeom>
          <a:noFill/>
          <a:ln/>
        </p:spPr>
        <p:txBody>
          <a:bodyPr wrap="square" rtlCol="0" anchor="ctr"/>
          <a:lstStyle/>
          <a:p>
            <a:pPr marL="0" indent="0">
              <a:buNone/>
            </a:pPr>
            <a:r>
              <a:rPr lang="en-US" sz="880" dirty="0">
                <a:solidFill>
                  <a:srgbClr val="E8EDF3"/>
                </a:solidFill>
                <a:latin typeface="Calibri" pitchFamily="34" charset="0"/>
                <a:ea typeface="Calibri" pitchFamily="34" charset="-122"/>
                <a:cs typeface="Calibri" pitchFamily="34" charset="-120"/>
              </a:rPr>
              <a:t>Configuration files and command history exposed private keys and server addresses — the keys to source code, internal tools, and production environments.</a:t>
            </a:r>
            <a:endParaRPr lang="en-US" sz="880" dirty="0"/>
          </a:p>
        </p:txBody>
      </p:sp>
      <p:sp>
        <p:nvSpPr>
          <p:cNvPr id="18" name="Shape 14"/>
          <p:cNvSpPr/>
          <p:nvPr/>
        </p:nvSpPr>
        <p:spPr>
          <a:xfrm>
            <a:off x="6263640" y="1115568"/>
            <a:ext cx="2834640" cy="1572768"/>
          </a:xfrm>
          <a:prstGeom prst="rect">
            <a:avLst/>
          </a:prstGeom>
          <a:solidFill>
            <a:srgbClr val="152233"/>
          </a:solidFill>
          <a:ln w="12700">
            <a:solidFill>
              <a:srgbClr val="1C2E44"/>
            </a:solidFill>
            <a:prstDash val="solid"/>
          </a:ln>
        </p:spPr>
        <p:txBody>
          <a:bodyPr/>
          <a:lstStyle/>
          <a:p>
            <a:endParaRPr lang="en-US"/>
          </a:p>
        </p:txBody>
      </p:sp>
      <p:sp>
        <p:nvSpPr>
          <p:cNvPr id="19" name="Shape 15"/>
          <p:cNvSpPr/>
          <p:nvPr/>
        </p:nvSpPr>
        <p:spPr>
          <a:xfrm>
            <a:off x="6263640" y="1115568"/>
            <a:ext cx="54864" cy="1572768"/>
          </a:xfrm>
          <a:prstGeom prst="rect">
            <a:avLst/>
          </a:prstGeom>
          <a:solidFill>
            <a:srgbClr val="E67E22"/>
          </a:solidFill>
          <a:ln w="12700">
            <a:solidFill>
              <a:srgbClr val="E67E22"/>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391656" y="1225296"/>
            <a:ext cx="329184" cy="329184"/>
          </a:xfrm>
          <a:prstGeom prst="rect">
            <a:avLst/>
          </a:prstGeom>
        </p:spPr>
      </p:pic>
      <p:sp>
        <p:nvSpPr>
          <p:cNvPr id="21" name="Text 16"/>
          <p:cNvSpPr/>
          <p:nvPr/>
        </p:nvSpPr>
        <p:spPr>
          <a:xfrm>
            <a:off x="6812280" y="1207008"/>
            <a:ext cx="2194560" cy="329184"/>
          </a:xfrm>
          <a:prstGeom prst="rect">
            <a:avLst/>
          </a:prstGeom>
          <a:noFill/>
          <a:ln/>
        </p:spPr>
        <p:txBody>
          <a:bodyPr wrap="square" lIns="0" tIns="0" rIns="0" bIns="0"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Data Integrity</a:t>
            </a:r>
            <a:endParaRPr lang="en-US" sz="1050" dirty="0"/>
          </a:p>
        </p:txBody>
      </p:sp>
      <p:sp>
        <p:nvSpPr>
          <p:cNvPr id="22" name="Shape 17"/>
          <p:cNvSpPr/>
          <p:nvPr/>
        </p:nvSpPr>
        <p:spPr>
          <a:xfrm>
            <a:off x="6391656" y="1618488"/>
            <a:ext cx="2596896" cy="27432"/>
          </a:xfrm>
          <a:prstGeom prst="rect">
            <a:avLst/>
          </a:prstGeom>
          <a:solidFill>
            <a:srgbClr val="1C2E44"/>
          </a:solidFill>
          <a:ln w="12700">
            <a:solidFill>
              <a:srgbClr val="1C2E44"/>
            </a:solidFill>
            <a:prstDash val="solid"/>
          </a:ln>
        </p:spPr>
        <p:txBody>
          <a:bodyPr/>
          <a:lstStyle/>
          <a:p>
            <a:endParaRPr lang="en-US"/>
          </a:p>
        </p:txBody>
      </p:sp>
      <p:sp>
        <p:nvSpPr>
          <p:cNvPr id="23" name="Text 18"/>
          <p:cNvSpPr/>
          <p:nvPr/>
        </p:nvSpPr>
        <p:spPr>
          <a:xfrm>
            <a:off x="6391656" y="1700784"/>
            <a:ext cx="2596896" cy="914400"/>
          </a:xfrm>
          <a:prstGeom prst="rect">
            <a:avLst/>
          </a:prstGeom>
          <a:noFill/>
          <a:ln/>
        </p:spPr>
        <p:txBody>
          <a:bodyPr wrap="square" rtlCol="0" anchor="ctr"/>
          <a:lstStyle/>
          <a:p>
            <a:pPr marL="0" indent="0">
              <a:buNone/>
            </a:pPr>
            <a:r>
              <a:rPr lang="en-US" sz="880" dirty="0">
                <a:solidFill>
                  <a:srgbClr val="E8EDF3"/>
                </a:solidFill>
                <a:latin typeface="Calibri" pitchFamily="34" charset="0"/>
                <a:ea typeface="Calibri" pitchFamily="34" charset="-122"/>
                <a:cs typeface="Calibri" pitchFamily="34" charset="-120"/>
              </a:rPr>
              <a:t>Files matching ransomware patterns were written to the second machine. A deeper forensic review is needed to confirm whether data was encrypted or exfiltrated.</a:t>
            </a:r>
            <a:endParaRPr lang="en-US" sz="880" dirty="0"/>
          </a:p>
        </p:txBody>
      </p:sp>
      <p:sp>
        <p:nvSpPr>
          <p:cNvPr id="24" name="Shape 19"/>
          <p:cNvSpPr/>
          <p:nvPr/>
        </p:nvSpPr>
        <p:spPr>
          <a:xfrm>
            <a:off x="228600" y="2852928"/>
            <a:ext cx="2834640" cy="1572768"/>
          </a:xfrm>
          <a:prstGeom prst="rect">
            <a:avLst/>
          </a:prstGeom>
          <a:solidFill>
            <a:srgbClr val="152233"/>
          </a:solidFill>
          <a:ln w="12700">
            <a:solidFill>
              <a:srgbClr val="1C2E44"/>
            </a:solidFill>
            <a:prstDash val="solid"/>
          </a:ln>
        </p:spPr>
        <p:txBody>
          <a:bodyPr/>
          <a:lstStyle/>
          <a:p>
            <a:endParaRPr lang="en-US"/>
          </a:p>
        </p:txBody>
      </p:sp>
      <p:sp>
        <p:nvSpPr>
          <p:cNvPr id="25" name="Shape 20"/>
          <p:cNvSpPr/>
          <p:nvPr/>
        </p:nvSpPr>
        <p:spPr>
          <a:xfrm>
            <a:off x="228600" y="2852928"/>
            <a:ext cx="54864" cy="1572768"/>
          </a:xfrm>
          <a:prstGeom prst="rect">
            <a:avLst/>
          </a:prstGeom>
          <a:solidFill>
            <a:srgbClr val="E67E22"/>
          </a:solidFill>
          <a:ln w="12700">
            <a:solidFill>
              <a:srgbClr val="E67E22"/>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356616" y="2962656"/>
            <a:ext cx="329184" cy="329184"/>
          </a:xfrm>
          <a:prstGeom prst="rect">
            <a:avLst/>
          </a:prstGeom>
        </p:spPr>
      </p:pic>
      <p:sp>
        <p:nvSpPr>
          <p:cNvPr id="27" name="Text 21"/>
          <p:cNvSpPr/>
          <p:nvPr/>
        </p:nvSpPr>
        <p:spPr>
          <a:xfrm>
            <a:off x="777240" y="2944368"/>
            <a:ext cx="2194560" cy="329184"/>
          </a:xfrm>
          <a:prstGeom prst="rect">
            <a:avLst/>
          </a:prstGeom>
          <a:noFill/>
          <a:ln/>
        </p:spPr>
        <p:txBody>
          <a:bodyPr wrap="square" lIns="0" tIns="0" rIns="0" bIns="0"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Wider Network Exposure</a:t>
            </a:r>
            <a:endParaRPr lang="en-US" sz="1050" dirty="0"/>
          </a:p>
        </p:txBody>
      </p:sp>
      <p:sp>
        <p:nvSpPr>
          <p:cNvPr id="28" name="Shape 22"/>
          <p:cNvSpPr/>
          <p:nvPr/>
        </p:nvSpPr>
        <p:spPr>
          <a:xfrm>
            <a:off x="356616" y="3355848"/>
            <a:ext cx="2596896" cy="27432"/>
          </a:xfrm>
          <a:prstGeom prst="rect">
            <a:avLst/>
          </a:prstGeom>
          <a:solidFill>
            <a:srgbClr val="1C2E44"/>
          </a:solidFill>
          <a:ln w="12700">
            <a:solidFill>
              <a:srgbClr val="1C2E44"/>
            </a:solidFill>
            <a:prstDash val="solid"/>
          </a:ln>
        </p:spPr>
        <p:txBody>
          <a:bodyPr/>
          <a:lstStyle/>
          <a:p>
            <a:endParaRPr lang="en-US"/>
          </a:p>
        </p:txBody>
      </p:sp>
      <p:sp>
        <p:nvSpPr>
          <p:cNvPr id="29" name="Text 23"/>
          <p:cNvSpPr/>
          <p:nvPr/>
        </p:nvSpPr>
        <p:spPr>
          <a:xfrm>
            <a:off x="356616" y="3438144"/>
            <a:ext cx="2596896" cy="914400"/>
          </a:xfrm>
          <a:prstGeom prst="rect">
            <a:avLst/>
          </a:prstGeom>
          <a:noFill/>
          <a:ln/>
        </p:spPr>
        <p:txBody>
          <a:bodyPr wrap="square" rtlCol="0" anchor="ctr"/>
          <a:lstStyle/>
          <a:p>
            <a:pPr marL="0" indent="0">
              <a:buNone/>
            </a:pPr>
            <a:r>
              <a:rPr lang="en-US" sz="880" dirty="0">
                <a:solidFill>
                  <a:srgbClr val="E8EDF3"/>
                </a:solidFill>
                <a:latin typeface="Calibri" pitchFamily="34" charset="0"/>
                <a:ea typeface="Calibri" pitchFamily="34" charset="-122"/>
                <a:cs typeface="Calibri" pitchFamily="34" charset="-120"/>
              </a:rPr>
              <a:t>The attacker demonstrated they could move freely between machines. Given more time, more devices on the same network could have been reached.</a:t>
            </a:r>
            <a:endParaRPr lang="en-US" sz="880" dirty="0"/>
          </a:p>
        </p:txBody>
      </p:sp>
      <p:sp>
        <p:nvSpPr>
          <p:cNvPr id="30" name="Shape 24"/>
          <p:cNvSpPr/>
          <p:nvPr/>
        </p:nvSpPr>
        <p:spPr>
          <a:xfrm>
            <a:off x="3246120" y="2852928"/>
            <a:ext cx="2834640" cy="1572768"/>
          </a:xfrm>
          <a:prstGeom prst="rect">
            <a:avLst/>
          </a:prstGeom>
          <a:solidFill>
            <a:srgbClr val="152233"/>
          </a:solidFill>
          <a:ln w="12700">
            <a:solidFill>
              <a:srgbClr val="1C2E44"/>
            </a:solidFill>
            <a:prstDash val="solid"/>
          </a:ln>
        </p:spPr>
        <p:txBody>
          <a:bodyPr/>
          <a:lstStyle/>
          <a:p>
            <a:endParaRPr lang="en-US"/>
          </a:p>
        </p:txBody>
      </p:sp>
      <p:sp>
        <p:nvSpPr>
          <p:cNvPr id="31" name="Shape 25"/>
          <p:cNvSpPr/>
          <p:nvPr/>
        </p:nvSpPr>
        <p:spPr>
          <a:xfrm>
            <a:off x="3246120" y="2852928"/>
            <a:ext cx="54864" cy="1572768"/>
          </a:xfrm>
          <a:prstGeom prst="rect">
            <a:avLst/>
          </a:prstGeom>
          <a:solidFill>
            <a:srgbClr val="2980B9"/>
          </a:solidFill>
          <a:ln w="12700">
            <a:solidFill>
              <a:srgbClr val="2980B9"/>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3374136" y="2962656"/>
            <a:ext cx="329184" cy="329184"/>
          </a:xfrm>
          <a:prstGeom prst="rect">
            <a:avLst/>
          </a:prstGeom>
        </p:spPr>
      </p:pic>
      <p:sp>
        <p:nvSpPr>
          <p:cNvPr id="33" name="Text 26"/>
          <p:cNvSpPr/>
          <p:nvPr/>
        </p:nvSpPr>
        <p:spPr>
          <a:xfrm>
            <a:off x="3794760" y="2944368"/>
            <a:ext cx="2194560" cy="329184"/>
          </a:xfrm>
          <a:prstGeom prst="rect">
            <a:avLst/>
          </a:prstGeom>
          <a:noFill/>
          <a:ln/>
        </p:spPr>
        <p:txBody>
          <a:bodyPr wrap="square" lIns="0" tIns="0" rIns="0" bIns="0"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Regulatory Exposure</a:t>
            </a:r>
            <a:endParaRPr lang="en-US" sz="1050" dirty="0"/>
          </a:p>
        </p:txBody>
      </p:sp>
      <p:sp>
        <p:nvSpPr>
          <p:cNvPr id="34" name="Shape 27"/>
          <p:cNvSpPr/>
          <p:nvPr/>
        </p:nvSpPr>
        <p:spPr>
          <a:xfrm>
            <a:off x="3374136" y="3355848"/>
            <a:ext cx="2596896" cy="27432"/>
          </a:xfrm>
          <a:prstGeom prst="rect">
            <a:avLst/>
          </a:prstGeom>
          <a:solidFill>
            <a:srgbClr val="1C2E44"/>
          </a:solidFill>
          <a:ln w="12700">
            <a:solidFill>
              <a:srgbClr val="1C2E44"/>
            </a:solidFill>
            <a:prstDash val="solid"/>
          </a:ln>
        </p:spPr>
        <p:txBody>
          <a:bodyPr/>
          <a:lstStyle/>
          <a:p>
            <a:endParaRPr lang="en-US"/>
          </a:p>
        </p:txBody>
      </p:sp>
      <p:sp>
        <p:nvSpPr>
          <p:cNvPr id="35" name="Text 28"/>
          <p:cNvSpPr/>
          <p:nvPr/>
        </p:nvSpPr>
        <p:spPr>
          <a:xfrm>
            <a:off x="3374136" y="3438144"/>
            <a:ext cx="2596896" cy="914400"/>
          </a:xfrm>
          <a:prstGeom prst="rect">
            <a:avLst/>
          </a:prstGeom>
          <a:noFill/>
          <a:ln/>
        </p:spPr>
        <p:txBody>
          <a:bodyPr wrap="square" rtlCol="0" anchor="ctr"/>
          <a:lstStyle/>
          <a:p>
            <a:pPr marL="0" indent="0">
              <a:buNone/>
            </a:pPr>
            <a:r>
              <a:rPr lang="en-US" sz="880" dirty="0">
                <a:solidFill>
                  <a:srgbClr val="E8EDF3"/>
                </a:solidFill>
                <a:latin typeface="Calibri" pitchFamily="34" charset="0"/>
                <a:ea typeface="Calibri" pitchFamily="34" charset="-122"/>
                <a:cs typeface="Calibri" pitchFamily="34" charset="-120"/>
              </a:rPr>
              <a:t>Depending on what data was accessed, there may be obligations to notify customers, partners, or regulators if any personal data was stored in accessed directories.</a:t>
            </a:r>
            <a:endParaRPr lang="en-US" sz="880" dirty="0"/>
          </a:p>
        </p:txBody>
      </p:sp>
      <p:sp>
        <p:nvSpPr>
          <p:cNvPr id="36" name="Shape 29"/>
          <p:cNvSpPr/>
          <p:nvPr/>
        </p:nvSpPr>
        <p:spPr>
          <a:xfrm>
            <a:off x="6263640" y="2852928"/>
            <a:ext cx="2834640" cy="1572768"/>
          </a:xfrm>
          <a:prstGeom prst="rect">
            <a:avLst/>
          </a:prstGeom>
          <a:solidFill>
            <a:srgbClr val="152233"/>
          </a:solidFill>
          <a:ln w="12700">
            <a:solidFill>
              <a:srgbClr val="1C2E44"/>
            </a:solidFill>
            <a:prstDash val="solid"/>
          </a:ln>
        </p:spPr>
        <p:txBody>
          <a:bodyPr/>
          <a:lstStyle/>
          <a:p>
            <a:endParaRPr lang="en-US"/>
          </a:p>
        </p:txBody>
      </p:sp>
      <p:sp>
        <p:nvSpPr>
          <p:cNvPr id="37" name="Shape 30"/>
          <p:cNvSpPr/>
          <p:nvPr/>
        </p:nvSpPr>
        <p:spPr>
          <a:xfrm>
            <a:off x="6263640" y="2852928"/>
            <a:ext cx="54864" cy="1572768"/>
          </a:xfrm>
          <a:prstGeom prst="rect">
            <a:avLst/>
          </a:prstGeom>
          <a:solidFill>
            <a:srgbClr val="27AE60"/>
          </a:solidFill>
          <a:ln w="12700">
            <a:solidFill>
              <a:srgbClr val="27AE60"/>
            </a:solidFill>
            <a:prstDash val="solid"/>
          </a:ln>
        </p:spPr>
        <p:txBody>
          <a:bodyPr/>
          <a:lstStyle/>
          <a:p>
            <a:endParaRPr lang="en-US"/>
          </a:p>
        </p:txBody>
      </p:sp>
      <p:pic>
        <p:nvPicPr>
          <p:cNvPr id="38" name="Image 5" descr="preencoded.png"/>
          <p:cNvPicPr>
            <a:picLocks noChangeAspect="1"/>
          </p:cNvPicPr>
          <p:nvPr/>
        </p:nvPicPr>
        <p:blipFill>
          <a:blip r:embed="rId8"/>
          <a:stretch>
            <a:fillRect/>
          </a:stretch>
        </p:blipFill>
        <p:spPr>
          <a:xfrm>
            <a:off x="6391656" y="2962656"/>
            <a:ext cx="329184" cy="329184"/>
          </a:xfrm>
          <a:prstGeom prst="rect">
            <a:avLst/>
          </a:prstGeom>
        </p:spPr>
      </p:pic>
      <p:sp>
        <p:nvSpPr>
          <p:cNvPr id="39" name="Text 31"/>
          <p:cNvSpPr/>
          <p:nvPr/>
        </p:nvSpPr>
        <p:spPr>
          <a:xfrm>
            <a:off x="6812280" y="2944368"/>
            <a:ext cx="2194560" cy="329184"/>
          </a:xfrm>
          <a:prstGeom prst="rect">
            <a:avLst/>
          </a:prstGeom>
          <a:noFill/>
          <a:ln/>
        </p:spPr>
        <p:txBody>
          <a:bodyPr wrap="square" lIns="0" tIns="0" rIns="0" bIns="0"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Scope Was Limited by Time</a:t>
            </a:r>
            <a:endParaRPr lang="en-US" sz="1050" dirty="0"/>
          </a:p>
        </p:txBody>
      </p:sp>
      <p:sp>
        <p:nvSpPr>
          <p:cNvPr id="40" name="Shape 32"/>
          <p:cNvSpPr/>
          <p:nvPr/>
        </p:nvSpPr>
        <p:spPr>
          <a:xfrm>
            <a:off x="6391656" y="3355848"/>
            <a:ext cx="2596896" cy="27432"/>
          </a:xfrm>
          <a:prstGeom prst="rect">
            <a:avLst/>
          </a:prstGeom>
          <a:solidFill>
            <a:srgbClr val="1C2E44"/>
          </a:solidFill>
          <a:ln w="12700">
            <a:solidFill>
              <a:srgbClr val="1C2E44"/>
            </a:solidFill>
            <a:prstDash val="solid"/>
          </a:ln>
        </p:spPr>
        <p:txBody>
          <a:bodyPr/>
          <a:lstStyle/>
          <a:p>
            <a:endParaRPr lang="en-US"/>
          </a:p>
        </p:txBody>
      </p:sp>
      <p:sp>
        <p:nvSpPr>
          <p:cNvPr id="41" name="Text 33"/>
          <p:cNvSpPr/>
          <p:nvPr/>
        </p:nvSpPr>
        <p:spPr>
          <a:xfrm>
            <a:off x="6391656" y="3438144"/>
            <a:ext cx="2596896" cy="914400"/>
          </a:xfrm>
          <a:prstGeom prst="rect">
            <a:avLst/>
          </a:prstGeom>
          <a:noFill/>
          <a:ln/>
        </p:spPr>
        <p:txBody>
          <a:bodyPr wrap="square" rtlCol="0" anchor="ctr"/>
          <a:lstStyle/>
          <a:p>
            <a:pPr marL="0" indent="0">
              <a:buNone/>
            </a:pPr>
            <a:r>
              <a:rPr lang="en-US" sz="880" dirty="0">
                <a:solidFill>
                  <a:srgbClr val="E8EDF3"/>
                </a:solidFill>
                <a:latin typeface="Calibri" pitchFamily="34" charset="0"/>
                <a:ea typeface="Calibri" pitchFamily="34" charset="-122"/>
                <a:cs typeface="Calibri" pitchFamily="34" charset="-120"/>
              </a:rPr>
              <a:t>The attack window was just 22 minutes. Early detection significantly limited the damage. This demonstrates how critical rapid response is.</a:t>
            </a:r>
            <a:endParaRPr lang="en-US" sz="880" dirty="0"/>
          </a:p>
        </p:txBody>
      </p:sp>
      <p:sp>
        <p:nvSpPr>
          <p:cNvPr id="42" name="Shape 34"/>
          <p:cNvSpPr/>
          <p:nvPr/>
        </p:nvSpPr>
        <p:spPr>
          <a:xfrm>
            <a:off x="0" y="4846320"/>
            <a:ext cx="9144000" cy="297180"/>
          </a:xfrm>
          <a:prstGeom prst="rect">
            <a:avLst/>
          </a:prstGeom>
          <a:solidFill>
            <a:srgbClr val="152233"/>
          </a:solidFill>
          <a:ln w="12700">
            <a:solidFill>
              <a:srgbClr val="152233"/>
            </a:solidFill>
            <a:prstDash val="solid"/>
          </a:ln>
        </p:spPr>
        <p:txBody>
          <a:bodyPr/>
          <a:lstStyle/>
          <a:p>
            <a:endParaRPr lang="en-US" dirty="0"/>
          </a:p>
        </p:txBody>
      </p:sp>
      <p:sp>
        <p:nvSpPr>
          <p:cNvPr id="43" name="Text 35"/>
          <p:cNvSpPr/>
          <p:nvPr/>
        </p:nvSpPr>
        <p:spPr>
          <a:xfrm>
            <a:off x="274320" y="4864608"/>
            <a:ext cx="8595360" cy="256032"/>
          </a:xfrm>
          <a:prstGeom prst="rect">
            <a:avLst/>
          </a:prstGeom>
          <a:noFill/>
          <a:ln/>
        </p:spPr>
        <p:txBody>
          <a:bodyPr wrap="square" rtlCol="0" anchor="ctr"/>
          <a:lstStyle/>
          <a:p>
            <a:pPr marL="0" indent="0" algn="ctr">
              <a:buNone/>
            </a:pPr>
            <a:r>
              <a:rPr lang="en-US" sz="750" dirty="0">
                <a:solidFill>
                  <a:srgbClr val="8AAABB"/>
                </a:solidFill>
                <a:latin typeface="Calibri" pitchFamily="34" charset="0"/>
                <a:ea typeface="Calibri" pitchFamily="34" charset="-122"/>
                <a:cs typeface="Calibri" pitchFamily="34" charset="-120"/>
              </a:rPr>
              <a:t>Maxine Jones  ·  Lumen Soda Endpoint IR Investigation </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233"/>
          </a:solidFill>
          <a:ln w="12700">
            <a:solidFill>
              <a:srgbClr val="152233"/>
            </a:solidFill>
            <a:prstDash val="solid"/>
          </a:ln>
        </p:spPr>
        <p:txBody>
          <a:bodyPr/>
          <a:lstStyle/>
          <a:p>
            <a:endParaRPr lang="en-US"/>
          </a:p>
        </p:txBody>
      </p:sp>
      <p:sp>
        <p:nvSpPr>
          <p:cNvPr id="3" name="Shape 1"/>
          <p:cNvSpPr/>
          <p:nvPr/>
        </p:nvSpPr>
        <p:spPr>
          <a:xfrm>
            <a:off x="0" y="658368"/>
            <a:ext cx="9144000" cy="45720"/>
          </a:xfrm>
          <a:prstGeom prst="rect">
            <a:avLst/>
          </a:prstGeom>
          <a:solidFill>
            <a:srgbClr val="C9A846"/>
          </a:solidFill>
          <a:ln w="12700">
            <a:solidFill>
              <a:srgbClr val="C9A846"/>
            </a:solidFill>
            <a:prstDash val="solid"/>
          </a:ln>
        </p:spPr>
        <p:txBody>
          <a:bodyPr/>
          <a:lstStyle/>
          <a:p>
            <a:endParaRPr lang="en-US"/>
          </a:p>
        </p:txBody>
      </p:sp>
      <p:sp>
        <p:nvSpPr>
          <p:cNvPr id="4" name="Text 2"/>
          <p:cNvSpPr/>
          <p:nvPr/>
        </p:nvSpPr>
        <p:spPr>
          <a:xfrm>
            <a:off x="365760" y="91440"/>
            <a:ext cx="822960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Needs to Happen Now</a:t>
            </a:r>
            <a:endParaRPr lang="en-US" sz="2400" dirty="0"/>
          </a:p>
        </p:txBody>
      </p:sp>
      <p:sp>
        <p:nvSpPr>
          <p:cNvPr id="5" name="Shape 3"/>
          <p:cNvSpPr/>
          <p:nvPr/>
        </p:nvSpPr>
        <p:spPr>
          <a:xfrm>
            <a:off x="228600" y="804672"/>
            <a:ext cx="2834640" cy="3931920"/>
          </a:xfrm>
          <a:prstGeom prst="rect">
            <a:avLst/>
          </a:prstGeom>
          <a:solidFill>
            <a:srgbClr val="152233"/>
          </a:solidFill>
          <a:ln w="12700">
            <a:solidFill>
              <a:srgbClr val="1C2E44"/>
            </a:solidFill>
            <a:prstDash val="solid"/>
          </a:ln>
        </p:spPr>
        <p:txBody>
          <a:bodyPr/>
          <a:lstStyle/>
          <a:p>
            <a:endParaRPr lang="en-US"/>
          </a:p>
        </p:txBody>
      </p:sp>
      <p:sp>
        <p:nvSpPr>
          <p:cNvPr id="6" name="Shape 4"/>
          <p:cNvSpPr/>
          <p:nvPr/>
        </p:nvSpPr>
        <p:spPr>
          <a:xfrm>
            <a:off x="228600" y="804672"/>
            <a:ext cx="2834640" cy="45720"/>
          </a:xfrm>
          <a:prstGeom prst="rect">
            <a:avLst/>
          </a:prstGeom>
          <a:solidFill>
            <a:srgbClr val="C0392B"/>
          </a:solidFill>
          <a:ln w="12700">
            <a:solidFill>
              <a:srgbClr val="C0392B"/>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38328" y="886968"/>
            <a:ext cx="347472" cy="347472"/>
          </a:xfrm>
          <a:prstGeom prst="rect">
            <a:avLst/>
          </a:prstGeom>
        </p:spPr>
      </p:pic>
      <p:sp>
        <p:nvSpPr>
          <p:cNvPr id="8" name="Text 5"/>
          <p:cNvSpPr/>
          <p:nvPr/>
        </p:nvSpPr>
        <p:spPr>
          <a:xfrm>
            <a:off x="777240" y="886968"/>
            <a:ext cx="219456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Immediately</a:t>
            </a:r>
            <a:endParaRPr lang="en-US" sz="1300" dirty="0"/>
          </a:p>
        </p:txBody>
      </p:sp>
      <p:sp>
        <p:nvSpPr>
          <p:cNvPr id="9" name="Shape 6"/>
          <p:cNvSpPr/>
          <p:nvPr/>
        </p:nvSpPr>
        <p:spPr>
          <a:xfrm>
            <a:off x="365760" y="1298448"/>
            <a:ext cx="2560320" cy="27432"/>
          </a:xfrm>
          <a:prstGeom prst="rect">
            <a:avLst/>
          </a:prstGeom>
          <a:solidFill>
            <a:srgbClr val="1C2E44"/>
          </a:solidFill>
          <a:ln w="12700">
            <a:solidFill>
              <a:srgbClr val="1C2E44"/>
            </a:solidFill>
            <a:prstDash val="solid"/>
          </a:ln>
        </p:spPr>
        <p:txBody>
          <a:bodyPr/>
          <a:lstStyle/>
          <a:p>
            <a:endParaRPr lang="en-US"/>
          </a:p>
        </p:txBody>
      </p:sp>
      <p:sp>
        <p:nvSpPr>
          <p:cNvPr id="10" name="Shape 7"/>
          <p:cNvSpPr/>
          <p:nvPr/>
        </p:nvSpPr>
        <p:spPr>
          <a:xfrm>
            <a:off x="365760" y="1444752"/>
            <a:ext cx="201168" cy="201168"/>
          </a:xfrm>
          <a:prstGeom prst="line">
            <a:avLst/>
          </a:prstGeom>
          <a:solidFill>
            <a:srgbClr val="C0392B"/>
          </a:solidFill>
          <a:ln w="12700">
            <a:solidFill>
              <a:srgbClr val="C0392B"/>
            </a:solidFill>
            <a:prstDash val="solid"/>
          </a:ln>
        </p:spPr>
        <p:txBody>
          <a:bodyPr/>
          <a:lstStyle/>
          <a:p>
            <a:endParaRPr lang="en-US"/>
          </a:p>
        </p:txBody>
      </p:sp>
      <p:sp>
        <p:nvSpPr>
          <p:cNvPr id="11" name="Text 8"/>
          <p:cNvSpPr/>
          <p:nvPr/>
        </p:nvSpPr>
        <p:spPr>
          <a:xfrm>
            <a:off x="649224" y="1389888"/>
            <a:ext cx="2304288" cy="100584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Wipe and rebuild both affected computers — do not attempt to clean them, the malware is too deeply embedded to safely remove</a:t>
            </a:r>
            <a:endParaRPr lang="en-US" sz="950" dirty="0"/>
          </a:p>
        </p:txBody>
      </p:sp>
      <p:sp>
        <p:nvSpPr>
          <p:cNvPr id="12" name="Shape 9"/>
          <p:cNvSpPr/>
          <p:nvPr/>
        </p:nvSpPr>
        <p:spPr>
          <a:xfrm>
            <a:off x="365760" y="2542032"/>
            <a:ext cx="201168" cy="201168"/>
          </a:xfrm>
          <a:prstGeom prst="line">
            <a:avLst/>
          </a:prstGeom>
          <a:solidFill>
            <a:srgbClr val="C0392B"/>
          </a:solidFill>
          <a:ln w="12700">
            <a:solidFill>
              <a:srgbClr val="C0392B"/>
            </a:solidFill>
            <a:prstDash val="solid"/>
          </a:ln>
        </p:spPr>
        <p:txBody>
          <a:bodyPr/>
          <a:lstStyle/>
          <a:p>
            <a:endParaRPr lang="en-US"/>
          </a:p>
        </p:txBody>
      </p:sp>
      <p:sp>
        <p:nvSpPr>
          <p:cNvPr id="13" name="Text 10"/>
          <p:cNvSpPr/>
          <p:nvPr/>
        </p:nvSpPr>
        <p:spPr>
          <a:xfrm>
            <a:off x="649224" y="2487168"/>
            <a:ext cx="2304288" cy="100584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Change every password, cloud token, and developer key that was stored or accessible on either machine</a:t>
            </a:r>
            <a:endParaRPr lang="en-US" sz="950" dirty="0"/>
          </a:p>
        </p:txBody>
      </p:sp>
      <p:sp>
        <p:nvSpPr>
          <p:cNvPr id="14" name="Shape 11"/>
          <p:cNvSpPr/>
          <p:nvPr/>
        </p:nvSpPr>
        <p:spPr>
          <a:xfrm>
            <a:off x="3246120" y="804672"/>
            <a:ext cx="2834640" cy="3931920"/>
          </a:xfrm>
          <a:prstGeom prst="rect">
            <a:avLst/>
          </a:prstGeom>
          <a:solidFill>
            <a:srgbClr val="152233"/>
          </a:solidFill>
          <a:ln w="12700">
            <a:solidFill>
              <a:srgbClr val="1C2E44"/>
            </a:solidFill>
            <a:prstDash val="solid"/>
          </a:ln>
        </p:spPr>
        <p:txBody>
          <a:bodyPr/>
          <a:lstStyle/>
          <a:p>
            <a:endParaRPr lang="en-US"/>
          </a:p>
        </p:txBody>
      </p:sp>
      <p:sp>
        <p:nvSpPr>
          <p:cNvPr id="15" name="Shape 12"/>
          <p:cNvSpPr/>
          <p:nvPr/>
        </p:nvSpPr>
        <p:spPr>
          <a:xfrm>
            <a:off x="3246120" y="804672"/>
            <a:ext cx="2834640" cy="45720"/>
          </a:xfrm>
          <a:prstGeom prst="rect">
            <a:avLst/>
          </a:prstGeom>
          <a:solidFill>
            <a:srgbClr val="E67E22"/>
          </a:solidFill>
          <a:ln w="12700">
            <a:solidFill>
              <a:srgbClr val="E67E22"/>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3355848" y="886968"/>
            <a:ext cx="347472" cy="347472"/>
          </a:xfrm>
          <a:prstGeom prst="rect">
            <a:avLst/>
          </a:prstGeom>
        </p:spPr>
      </p:pic>
      <p:sp>
        <p:nvSpPr>
          <p:cNvPr id="17" name="Text 13"/>
          <p:cNvSpPr/>
          <p:nvPr/>
        </p:nvSpPr>
        <p:spPr>
          <a:xfrm>
            <a:off x="3794760" y="886968"/>
            <a:ext cx="219456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This Month</a:t>
            </a:r>
            <a:endParaRPr lang="en-US" sz="1300" dirty="0"/>
          </a:p>
        </p:txBody>
      </p:sp>
      <p:sp>
        <p:nvSpPr>
          <p:cNvPr id="18" name="Shape 14"/>
          <p:cNvSpPr/>
          <p:nvPr/>
        </p:nvSpPr>
        <p:spPr>
          <a:xfrm>
            <a:off x="3383280" y="1298448"/>
            <a:ext cx="2560320" cy="27432"/>
          </a:xfrm>
          <a:prstGeom prst="rect">
            <a:avLst/>
          </a:prstGeom>
          <a:solidFill>
            <a:srgbClr val="1C2E44"/>
          </a:solidFill>
          <a:ln w="12700">
            <a:solidFill>
              <a:srgbClr val="1C2E44"/>
            </a:solidFill>
            <a:prstDash val="solid"/>
          </a:ln>
        </p:spPr>
        <p:txBody>
          <a:bodyPr/>
          <a:lstStyle/>
          <a:p>
            <a:endParaRPr lang="en-US"/>
          </a:p>
        </p:txBody>
      </p:sp>
      <p:sp>
        <p:nvSpPr>
          <p:cNvPr id="19" name="Shape 15"/>
          <p:cNvSpPr/>
          <p:nvPr/>
        </p:nvSpPr>
        <p:spPr>
          <a:xfrm>
            <a:off x="3383280" y="1444752"/>
            <a:ext cx="201168" cy="201168"/>
          </a:xfrm>
          <a:prstGeom prst="line">
            <a:avLst/>
          </a:prstGeom>
          <a:solidFill>
            <a:srgbClr val="E67E22"/>
          </a:solidFill>
          <a:ln w="12700">
            <a:solidFill>
              <a:srgbClr val="E67E22"/>
            </a:solidFill>
            <a:prstDash val="solid"/>
          </a:ln>
        </p:spPr>
        <p:txBody>
          <a:bodyPr/>
          <a:lstStyle/>
          <a:p>
            <a:endParaRPr lang="en-US"/>
          </a:p>
        </p:txBody>
      </p:sp>
      <p:sp>
        <p:nvSpPr>
          <p:cNvPr id="20" name="Text 16"/>
          <p:cNvSpPr/>
          <p:nvPr/>
        </p:nvSpPr>
        <p:spPr>
          <a:xfrm>
            <a:off x="3666744" y="1389888"/>
            <a:ext cx="2304288" cy="100584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Remove full administrator access from everyday accounts — standard tasks don't need that level of power</a:t>
            </a:r>
            <a:endParaRPr lang="en-US" sz="950" dirty="0"/>
          </a:p>
        </p:txBody>
      </p:sp>
      <p:sp>
        <p:nvSpPr>
          <p:cNvPr id="21" name="Shape 17"/>
          <p:cNvSpPr/>
          <p:nvPr/>
        </p:nvSpPr>
        <p:spPr>
          <a:xfrm>
            <a:off x="3383280" y="2542032"/>
            <a:ext cx="201168" cy="201168"/>
          </a:xfrm>
          <a:prstGeom prst="line">
            <a:avLst/>
          </a:prstGeom>
          <a:solidFill>
            <a:srgbClr val="E67E22"/>
          </a:solidFill>
          <a:ln w="12700">
            <a:solidFill>
              <a:srgbClr val="E67E22"/>
            </a:solidFill>
            <a:prstDash val="solid"/>
          </a:ln>
        </p:spPr>
        <p:txBody>
          <a:bodyPr/>
          <a:lstStyle/>
          <a:p>
            <a:endParaRPr lang="en-US"/>
          </a:p>
        </p:txBody>
      </p:sp>
      <p:sp>
        <p:nvSpPr>
          <p:cNvPr id="22" name="Text 18"/>
          <p:cNvSpPr/>
          <p:nvPr/>
        </p:nvSpPr>
        <p:spPr>
          <a:xfrm>
            <a:off x="3666744" y="2487168"/>
            <a:ext cx="2304288" cy="100584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Install endpoint protection on all machines, including personal devices used on the company network</a:t>
            </a:r>
            <a:endParaRPr lang="en-US" sz="950" dirty="0"/>
          </a:p>
        </p:txBody>
      </p:sp>
      <p:sp>
        <p:nvSpPr>
          <p:cNvPr id="23" name="Shape 19"/>
          <p:cNvSpPr/>
          <p:nvPr/>
        </p:nvSpPr>
        <p:spPr>
          <a:xfrm>
            <a:off x="3383280" y="3639312"/>
            <a:ext cx="201168" cy="201168"/>
          </a:xfrm>
          <a:prstGeom prst="line">
            <a:avLst/>
          </a:prstGeom>
          <a:solidFill>
            <a:srgbClr val="E67E22"/>
          </a:solidFill>
          <a:ln w="12700">
            <a:solidFill>
              <a:srgbClr val="E67E22"/>
            </a:solidFill>
            <a:prstDash val="solid"/>
          </a:ln>
        </p:spPr>
        <p:txBody>
          <a:bodyPr/>
          <a:lstStyle/>
          <a:p>
            <a:endParaRPr lang="en-US"/>
          </a:p>
        </p:txBody>
      </p:sp>
      <p:sp>
        <p:nvSpPr>
          <p:cNvPr id="24" name="Text 20"/>
          <p:cNvSpPr/>
          <p:nvPr/>
        </p:nvSpPr>
        <p:spPr>
          <a:xfrm>
            <a:off x="3666744" y="3584448"/>
            <a:ext cx="2304288" cy="100584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Separate the network so personal devices can't directly communicate with business systems</a:t>
            </a:r>
            <a:endParaRPr lang="en-US" sz="950" dirty="0"/>
          </a:p>
        </p:txBody>
      </p:sp>
      <p:sp>
        <p:nvSpPr>
          <p:cNvPr id="25" name="Shape 21"/>
          <p:cNvSpPr/>
          <p:nvPr/>
        </p:nvSpPr>
        <p:spPr>
          <a:xfrm>
            <a:off x="6263640" y="804672"/>
            <a:ext cx="2834640" cy="3931920"/>
          </a:xfrm>
          <a:prstGeom prst="rect">
            <a:avLst/>
          </a:prstGeom>
          <a:solidFill>
            <a:srgbClr val="152233"/>
          </a:solidFill>
          <a:ln w="12700">
            <a:solidFill>
              <a:srgbClr val="1C2E44"/>
            </a:solidFill>
            <a:prstDash val="solid"/>
          </a:ln>
        </p:spPr>
        <p:txBody>
          <a:bodyPr/>
          <a:lstStyle/>
          <a:p>
            <a:endParaRPr lang="en-US"/>
          </a:p>
        </p:txBody>
      </p:sp>
      <p:sp>
        <p:nvSpPr>
          <p:cNvPr id="26" name="Shape 22"/>
          <p:cNvSpPr/>
          <p:nvPr/>
        </p:nvSpPr>
        <p:spPr>
          <a:xfrm>
            <a:off x="6263640" y="804672"/>
            <a:ext cx="2834640" cy="45720"/>
          </a:xfrm>
          <a:prstGeom prst="rect">
            <a:avLst/>
          </a:prstGeom>
          <a:solidFill>
            <a:srgbClr val="27AE60"/>
          </a:solidFill>
          <a:ln w="12700">
            <a:solidFill>
              <a:srgbClr val="27AE60"/>
            </a:solidFill>
            <a:prstDash val="solid"/>
          </a:ln>
        </p:spPr>
        <p:txBody>
          <a:bodyPr/>
          <a:lstStyle/>
          <a:p>
            <a:endParaRPr lang="en-US"/>
          </a:p>
        </p:txBody>
      </p:sp>
      <p:pic>
        <p:nvPicPr>
          <p:cNvPr id="27" name="Image 2" descr="preencoded.png"/>
          <p:cNvPicPr>
            <a:picLocks noChangeAspect="1"/>
          </p:cNvPicPr>
          <p:nvPr/>
        </p:nvPicPr>
        <p:blipFill>
          <a:blip r:embed="rId5"/>
          <a:stretch>
            <a:fillRect/>
          </a:stretch>
        </p:blipFill>
        <p:spPr>
          <a:xfrm>
            <a:off x="6373368" y="886968"/>
            <a:ext cx="347472" cy="347472"/>
          </a:xfrm>
          <a:prstGeom prst="rect">
            <a:avLst/>
          </a:prstGeom>
        </p:spPr>
      </p:pic>
      <p:sp>
        <p:nvSpPr>
          <p:cNvPr id="28" name="Text 23"/>
          <p:cNvSpPr/>
          <p:nvPr/>
        </p:nvSpPr>
        <p:spPr>
          <a:xfrm>
            <a:off x="6812280" y="886968"/>
            <a:ext cx="219456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Ongoing</a:t>
            </a:r>
            <a:endParaRPr lang="en-US" sz="1300" dirty="0"/>
          </a:p>
        </p:txBody>
      </p:sp>
      <p:sp>
        <p:nvSpPr>
          <p:cNvPr id="29" name="Shape 24"/>
          <p:cNvSpPr/>
          <p:nvPr/>
        </p:nvSpPr>
        <p:spPr>
          <a:xfrm>
            <a:off x="6400800" y="1298448"/>
            <a:ext cx="2560320" cy="27432"/>
          </a:xfrm>
          <a:prstGeom prst="rect">
            <a:avLst/>
          </a:prstGeom>
          <a:solidFill>
            <a:srgbClr val="1C2E44"/>
          </a:solidFill>
          <a:ln w="12700">
            <a:solidFill>
              <a:srgbClr val="1C2E44"/>
            </a:solidFill>
            <a:prstDash val="solid"/>
          </a:ln>
        </p:spPr>
        <p:txBody>
          <a:bodyPr/>
          <a:lstStyle/>
          <a:p>
            <a:endParaRPr lang="en-US"/>
          </a:p>
        </p:txBody>
      </p:sp>
      <p:sp>
        <p:nvSpPr>
          <p:cNvPr id="30" name="Shape 25"/>
          <p:cNvSpPr/>
          <p:nvPr/>
        </p:nvSpPr>
        <p:spPr>
          <a:xfrm>
            <a:off x="6400800" y="1444752"/>
            <a:ext cx="201168" cy="201168"/>
          </a:xfrm>
          <a:prstGeom prst="line">
            <a:avLst/>
          </a:prstGeom>
          <a:solidFill>
            <a:srgbClr val="27AE60"/>
          </a:solidFill>
          <a:ln w="12700">
            <a:solidFill>
              <a:srgbClr val="27AE60"/>
            </a:solidFill>
            <a:prstDash val="solid"/>
          </a:ln>
        </p:spPr>
        <p:txBody>
          <a:bodyPr/>
          <a:lstStyle/>
          <a:p>
            <a:endParaRPr lang="en-US"/>
          </a:p>
        </p:txBody>
      </p:sp>
      <p:sp>
        <p:nvSpPr>
          <p:cNvPr id="31" name="Text 26"/>
          <p:cNvSpPr/>
          <p:nvPr/>
        </p:nvSpPr>
        <p:spPr>
          <a:xfrm>
            <a:off x="6684264" y="1389888"/>
            <a:ext cx="2304288" cy="100584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Train all staff — especially those with senior access — to recognize suspicious files</a:t>
            </a:r>
            <a:endParaRPr lang="en-US" sz="950" dirty="0"/>
          </a:p>
        </p:txBody>
      </p:sp>
      <p:sp>
        <p:nvSpPr>
          <p:cNvPr id="32" name="Shape 27"/>
          <p:cNvSpPr/>
          <p:nvPr/>
        </p:nvSpPr>
        <p:spPr>
          <a:xfrm>
            <a:off x="6400800" y="2542032"/>
            <a:ext cx="201168" cy="201168"/>
          </a:xfrm>
          <a:prstGeom prst="line">
            <a:avLst/>
          </a:prstGeom>
          <a:solidFill>
            <a:srgbClr val="27AE60"/>
          </a:solidFill>
          <a:ln w="12700">
            <a:solidFill>
              <a:srgbClr val="27AE60"/>
            </a:solidFill>
            <a:prstDash val="solid"/>
          </a:ln>
        </p:spPr>
        <p:txBody>
          <a:bodyPr/>
          <a:lstStyle/>
          <a:p>
            <a:endParaRPr lang="en-US"/>
          </a:p>
        </p:txBody>
      </p:sp>
      <p:sp>
        <p:nvSpPr>
          <p:cNvPr id="33" name="Text 28"/>
          <p:cNvSpPr/>
          <p:nvPr/>
        </p:nvSpPr>
        <p:spPr>
          <a:xfrm>
            <a:off x="6684264" y="2487168"/>
            <a:ext cx="2304288" cy="100584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Enroll all company devices into a central management system so security policies are enforced automatically</a:t>
            </a:r>
            <a:endParaRPr lang="en-US" sz="950" dirty="0"/>
          </a:p>
        </p:txBody>
      </p:sp>
      <p:sp>
        <p:nvSpPr>
          <p:cNvPr id="34" name="Shape 29"/>
          <p:cNvSpPr/>
          <p:nvPr/>
        </p:nvSpPr>
        <p:spPr>
          <a:xfrm>
            <a:off x="6400800" y="3639312"/>
            <a:ext cx="201168" cy="201168"/>
          </a:xfrm>
          <a:prstGeom prst="line">
            <a:avLst/>
          </a:prstGeom>
          <a:solidFill>
            <a:srgbClr val="27AE60"/>
          </a:solidFill>
          <a:ln w="12700">
            <a:solidFill>
              <a:srgbClr val="27AE60"/>
            </a:solidFill>
            <a:prstDash val="solid"/>
          </a:ln>
        </p:spPr>
        <p:txBody>
          <a:bodyPr/>
          <a:lstStyle/>
          <a:p>
            <a:endParaRPr lang="en-US"/>
          </a:p>
        </p:txBody>
      </p:sp>
      <p:sp>
        <p:nvSpPr>
          <p:cNvPr id="35" name="Text 30"/>
          <p:cNvSpPr/>
          <p:nvPr/>
        </p:nvSpPr>
        <p:spPr>
          <a:xfrm>
            <a:off x="6684264" y="3584448"/>
            <a:ext cx="2304288" cy="1005840"/>
          </a:xfrm>
          <a:prstGeom prst="rect">
            <a:avLst/>
          </a:prstGeom>
          <a:noFill/>
          <a:ln/>
        </p:spPr>
        <p:txBody>
          <a:bodyPr wrap="square" rtlCol="0" anchor="ctr"/>
          <a:lstStyle/>
          <a:p>
            <a:pPr marL="0" indent="0">
              <a:buNone/>
            </a:pPr>
            <a:r>
              <a:rPr lang="en-US" sz="950" dirty="0">
                <a:solidFill>
                  <a:srgbClr val="E8EDF3"/>
                </a:solidFill>
                <a:latin typeface="Calibri" pitchFamily="34" charset="0"/>
                <a:ea typeface="Calibri" pitchFamily="34" charset="-122"/>
                <a:cs typeface="Calibri" pitchFamily="34" charset="-120"/>
              </a:rPr>
              <a:t>Review whether any regulatory notification obligations have been triggered by this incident</a:t>
            </a:r>
            <a:endParaRPr lang="en-US" sz="950" dirty="0"/>
          </a:p>
        </p:txBody>
      </p:sp>
      <p:sp>
        <p:nvSpPr>
          <p:cNvPr id="36" name="Shape 31"/>
          <p:cNvSpPr/>
          <p:nvPr/>
        </p:nvSpPr>
        <p:spPr>
          <a:xfrm>
            <a:off x="0" y="4846320"/>
            <a:ext cx="9144000" cy="297180"/>
          </a:xfrm>
          <a:prstGeom prst="rect">
            <a:avLst/>
          </a:prstGeom>
          <a:solidFill>
            <a:srgbClr val="152233"/>
          </a:solidFill>
          <a:ln w="12700">
            <a:solidFill>
              <a:srgbClr val="152233"/>
            </a:solidFill>
            <a:prstDash val="solid"/>
          </a:ln>
        </p:spPr>
        <p:txBody>
          <a:bodyPr/>
          <a:lstStyle/>
          <a:p>
            <a:endParaRPr lang="en-US"/>
          </a:p>
        </p:txBody>
      </p:sp>
      <p:sp>
        <p:nvSpPr>
          <p:cNvPr id="37" name="Text 32"/>
          <p:cNvSpPr/>
          <p:nvPr/>
        </p:nvSpPr>
        <p:spPr>
          <a:xfrm>
            <a:off x="274320" y="4864608"/>
            <a:ext cx="8595360" cy="256032"/>
          </a:xfrm>
          <a:prstGeom prst="rect">
            <a:avLst/>
          </a:prstGeom>
          <a:noFill/>
          <a:ln/>
        </p:spPr>
        <p:txBody>
          <a:bodyPr wrap="square" rtlCol="0" anchor="ctr"/>
          <a:lstStyle/>
          <a:p>
            <a:pPr marL="0" indent="0" algn="ctr">
              <a:buNone/>
            </a:pPr>
            <a:r>
              <a:rPr lang="en-US" sz="750" dirty="0">
                <a:solidFill>
                  <a:srgbClr val="8AAABB"/>
                </a:solidFill>
                <a:latin typeface="Calibri" pitchFamily="34" charset="0"/>
                <a:ea typeface="Calibri" pitchFamily="34" charset="-122"/>
                <a:cs typeface="Calibri" pitchFamily="34" charset="-120"/>
              </a:rPr>
              <a:t>Maxine Jones  ·  Lumen Soda Endpoint IR Investigation </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9A846"/>
          </a:solidFill>
          <a:ln w="12700">
            <a:solidFill>
              <a:srgbClr val="C9A846"/>
            </a:solidFill>
            <a:prstDash val="solid"/>
          </a:ln>
        </p:spPr>
        <p:txBody>
          <a:bodyPr/>
          <a:lstStyle/>
          <a:p>
            <a:endParaRPr lang="en-US"/>
          </a:p>
        </p:txBody>
      </p:sp>
      <p:sp>
        <p:nvSpPr>
          <p:cNvPr id="3" name="Text 1"/>
          <p:cNvSpPr/>
          <p:nvPr/>
        </p:nvSpPr>
        <p:spPr>
          <a:xfrm>
            <a:off x="274320" y="0"/>
            <a:ext cx="8595360" cy="566928"/>
          </a:xfrm>
          <a:prstGeom prst="rect">
            <a:avLst/>
          </a:prstGeom>
          <a:noFill/>
          <a:ln/>
        </p:spPr>
        <p:txBody>
          <a:bodyPr wrap="square"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How This Relates to Canopius</a:t>
            </a:r>
            <a:endParaRPr lang="en-US" sz="2000" dirty="0"/>
          </a:p>
        </p:txBody>
      </p:sp>
      <p:sp>
        <p:nvSpPr>
          <p:cNvPr id="4" name="Text 2"/>
          <p:cNvSpPr/>
          <p:nvPr/>
        </p:nvSpPr>
        <p:spPr>
          <a:xfrm>
            <a:off x="365760" y="676656"/>
            <a:ext cx="8412480" cy="274320"/>
          </a:xfrm>
          <a:prstGeom prst="rect">
            <a:avLst/>
          </a:prstGeom>
          <a:noFill/>
          <a:ln/>
        </p:spPr>
        <p:txBody>
          <a:bodyPr wrap="square" rtlCol="0" anchor="ctr"/>
          <a:lstStyle/>
          <a:p>
            <a:pPr marL="0" indent="0" algn="ctr">
              <a:buNone/>
            </a:pPr>
            <a:r>
              <a:rPr lang="en-US" sz="1050" i="1" dirty="0">
                <a:solidFill>
                  <a:srgbClr val="8AAABB"/>
                </a:solidFill>
                <a:latin typeface="Calibri" pitchFamily="34" charset="0"/>
                <a:ea typeface="Calibri" pitchFamily="34" charset="-122"/>
                <a:cs typeface="Calibri" pitchFamily="34" charset="-120"/>
              </a:rPr>
              <a:t>This investigation replicates exactly what a Canopius Incident Manager does for a policyholder — from the first call to the final report.</a:t>
            </a:r>
            <a:endParaRPr lang="en-US" sz="1050" dirty="0"/>
          </a:p>
        </p:txBody>
      </p:sp>
      <p:sp>
        <p:nvSpPr>
          <p:cNvPr id="5" name="Shape 3"/>
          <p:cNvSpPr/>
          <p:nvPr/>
        </p:nvSpPr>
        <p:spPr>
          <a:xfrm>
            <a:off x="228600" y="1051560"/>
            <a:ext cx="2834640" cy="1810512"/>
          </a:xfrm>
          <a:prstGeom prst="rect">
            <a:avLst/>
          </a:prstGeom>
          <a:solidFill>
            <a:srgbClr val="152233"/>
          </a:solidFill>
          <a:ln w="12700">
            <a:solidFill>
              <a:srgbClr val="1C2E44"/>
            </a:solidFill>
            <a:prstDash val="solid"/>
          </a:ln>
        </p:spPr>
        <p:txBody>
          <a:bodyPr/>
          <a:lstStyle/>
          <a:p>
            <a:endParaRPr lang="en-US"/>
          </a:p>
        </p:txBody>
      </p:sp>
      <p:sp>
        <p:nvSpPr>
          <p:cNvPr id="6" name="Shape 4"/>
          <p:cNvSpPr/>
          <p:nvPr/>
        </p:nvSpPr>
        <p:spPr>
          <a:xfrm>
            <a:off x="228600" y="1051560"/>
            <a:ext cx="54864" cy="1810512"/>
          </a:xfrm>
          <a:prstGeom prst="rect">
            <a:avLst/>
          </a:prstGeom>
          <a:solidFill>
            <a:srgbClr val="C9A846"/>
          </a:solidFill>
          <a:ln w="12700">
            <a:solidFill>
              <a:srgbClr val="C9A846"/>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47472" y="1143000"/>
            <a:ext cx="320040" cy="320040"/>
          </a:xfrm>
          <a:prstGeom prst="rect">
            <a:avLst/>
          </a:prstGeom>
        </p:spPr>
      </p:pic>
      <p:sp>
        <p:nvSpPr>
          <p:cNvPr id="8" name="Shape 5"/>
          <p:cNvSpPr/>
          <p:nvPr/>
        </p:nvSpPr>
        <p:spPr>
          <a:xfrm>
            <a:off x="758952" y="1143000"/>
            <a:ext cx="2212848" cy="329184"/>
          </a:xfrm>
          <a:prstGeom prst="rect">
            <a:avLst/>
          </a:prstGeom>
          <a:solidFill>
            <a:srgbClr val="1C2E44"/>
          </a:solidFill>
          <a:ln w="12700">
            <a:solidFill>
              <a:srgbClr val="1C2E44"/>
            </a:solidFill>
            <a:prstDash val="solid"/>
          </a:ln>
        </p:spPr>
        <p:txBody>
          <a:bodyPr/>
          <a:lstStyle/>
          <a:p>
            <a:endParaRPr lang="en-US"/>
          </a:p>
        </p:txBody>
      </p:sp>
      <p:sp>
        <p:nvSpPr>
          <p:cNvPr id="9" name="Text 6"/>
          <p:cNvSpPr/>
          <p:nvPr/>
        </p:nvSpPr>
        <p:spPr>
          <a:xfrm>
            <a:off x="795528" y="1143000"/>
            <a:ext cx="2176272" cy="329184"/>
          </a:xfrm>
          <a:prstGeom prst="rect">
            <a:avLst/>
          </a:prstGeom>
          <a:noFill/>
          <a:ln/>
        </p:spPr>
        <p:txBody>
          <a:bodyPr wrap="square" lIns="0" tIns="0" rIns="0" bIns="0" rtlCol="0" anchor="ctr"/>
          <a:lstStyle/>
          <a:p>
            <a:pPr marL="0" indent="0">
              <a:buNone/>
            </a:pPr>
            <a:r>
              <a:rPr lang="en-US" sz="750" b="1" dirty="0">
                <a:solidFill>
                  <a:srgbClr val="C9A846"/>
                </a:solidFill>
                <a:latin typeface="Calibri" pitchFamily="34" charset="0"/>
                <a:ea typeface="Calibri" pitchFamily="34" charset="-122"/>
                <a:cs typeface="Calibri" pitchFamily="34" charset="-120"/>
              </a:rPr>
              <a:t>Own the incident from notification to closure</a:t>
            </a:r>
            <a:endParaRPr lang="en-US" sz="750" dirty="0"/>
          </a:p>
        </p:txBody>
      </p:sp>
      <p:sp>
        <p:nvSpPr>
          <p:cNvPr id="10" name="Shape 7"/>
          <p:cNvSpPr/>
          <p:nvPr/>
        </p:nvSpPr>
        <p:spPr>
          <a:xfrm>
            <a:off x="347472" y="1527048"/>
            <a:ext cx="2615184" cy="27432"/>
          </a:xfrm>
          <a:prstGeom prst="rect">
            <a:avLst/>
          </a:prstGeom>
          <a:solidFill>
            <a:srgbClr val="1C2E44"/>
          </a:solidFill>
          <a:ln w="12700">
            <a:solidFill>
              <a:srgbClr val="1C2E44"/>
            </a:solidFill>
            <a:prstDash val="solid"/>
          </a:ln>
        </p:spPr>
        <p:txBody>
          <a:bodyPr/>
          <a:lstStyle/>
          <a:p>
            <a:endParaRPr lang="en-US"/>
          </a:p>
        </p:txBody>
      </p:sp>
      <p:sp>
        <p:nvSpPr>
          <p:cNvPr id="11" name="Text 8"/>
          <p:cNvSpPr/>
          <p:nvPr/>
        </p:nvSpPr>
        <p:spPr>
          <a:xfrm>
            <a:off x="347472" y="1600200"/>
            <a:ext cx="2615184" cy="1188720"/>
          </a:xfrm>
          <a:prstGeom prst="rect">
            <a:avLst/>
          </a:prstGeom>
          <a:noFill/>
          <a:ln/>
        </p:spPr>
        <p:txBody>
          <a:bodyPr wrap="square" rtlCol="0" anchor="ctr"/>
          <a:lstStyle/>
          <a:p>
            <a:pPr marL="0" indent="0">
              <a:buNone/>
            </a:pPr>
            <a:r>
              <a:rPr lang="en-US" sz="900" dirty="0">
                <a:solidFill>
                  <a:srgbClr val="E8EDF3"/>
                </a:solidFill>
                <a:latin typeface="Calibri" pitchFamily="34" charset="0"/>
                <a:ea typeface="Calibri" pitchFamily="34" charset="-122"/>
                <a:cs typeface="Calibri" pitchFamily="34" charset="-120"/>
              </a:rPr>
              <a:t>Bob the CEO raised a concern. I triaged it, ran the full investigation, mapped every stage of the attack, and delivered a complete executive report — start to finish, nothing left open.</a:t>
            </a:r>
            <a:endParaRPr lang="en-US" sz="900" dirty="0"/>
          </a:p>
        </p:txBody>
      </p:sp>
      <p:sp>
        <p:nvSpPr>
          <p:cNvPr id="12" name="Shape 9"/>
          <p:cNvSpPr/>
          <p:nvPr/>
        </p:nvSpPr>
        <p:spPr>
          <a:xfrm>
            <a:off x="3246120" y="1051560"/>
            <a:ext cx="2834640" cy="1810512"/>
          </a:xfrm>
          <a:prstGeom prst="rect">
            <a:avLst/>
          </a:prstGeom>
          <a:solidFill>
            <a:srgbClr val="152233"/>
          </a:solidFill>
          <a:ln w="12700">
            <a:solidFill>
              <a:srgbClr val="1C2E44"/>
            </a:solidFill>
            <a:prstDash val="solid"/>
          </a:ln>
        </p:spPr>
        <p:txBody>
          <a:bodyPr/>
          <a:lstStyle/>
          <a:p>
            <a:endParaRPr lang="en-US"/>
          </a:p>
        </p:txBody>
      </p:sp>
      <p:sp>
        <p:nvSpPr>
          <p:cNvPr id="13" name="Shape 10"/>
          <p:cNvSpPr/>
          <p:nvPr/>
        </p:nvSpPr>
        <p:spPr>
          <a:xfrm>
            <a:off x="3246120" y="1051560"/>
            <a:ext cx="54864" cy="1810512"/>
          </a:xfrm>
          <a:prstGeom prst="rect">
            <a:avLst/>
          </a:prstGeom>
          <a:solidFill>
            <a:srgbClr val="0078D4"/>
          </a:solidFill>
          <a:ln w="12700">
            <a:solidFill>
              <a:srgbClr val="0078D4"/>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364992" y="1143000"/>
            <a:ext cx="320040" cy="320040"/>
          </a:xfrm>
          <a:prstGeom prst="rect">
            <a:avLst/>
          </a:prstGeom>
        </p:spPr>
      </p:pic>
      <p:sp>
        <p:nvSpPr>
          <p:cNvPr id="15" name="Shape 11"/>
          <p:cNvSpPr/>
          <p:nvPr/>
        </p:nvSpPr>
        <p:spPr>
          <a:xfrm>
            <a:off x="3776472" y="1143000"/>
            <a:ext cx="2212848" cy="329184"/>
          </a:xfrm>
          <a:prstGeom prst="rect">
            <a:avLst/>
          </a:prstGeom>
          <a:solidFill>
            <a:srgbClr val="1C2E44"/>
          </a:solidFill>
          <a:ln w="12700">
            <a:solidFill>
              <a:srgbClr val="1C2E44"/>
            </a:solidFill>
            <a:prstDash val="solid"/>
          </a:ln>
        </p:spPr>
        <p:txBody>
          <a:bodyPr/>
          <a:lstStyle/>
          <a:p>
            <a:endParaRPr lang="en-US"/>
          </a:p>
        </p:txBody>
      </p:sp>
      <p:sp>
        <p:nvSpPr>
          <p:cNvPr id="16" name="Text 12"/>
          <p:cNvSpPr/>
          <p:nvPr/>
        </p:nvSpPr>
        <p:spPr>
          <a:xfrm>
            <a:off x="3813048" y="1143000"/>
            <a:ext cx="2176272" cy="329184"/>
          </a:xfrm>
          <a:prstGeom prst="rect">
            <a:avLst/>
          </a:prstGeom>
          <a:noFill/>
          <a:ln/>
        </p:spPr>
        <p:txBody>
          <a:bodyPr wrap="square" lIns="0" tIns="0" rIns="0" bIns="0" rtlCol="0" anchor="ctr"/>
          <a:lstStyle/>
          <a:p>
            <a:pPr marL="0" indent="0">
              <a:buNone/>
            </a:pPr>
            <a:r>
              <a:rPr lang="en-US" sz="750" b="1" dirty="0">
                <a:solidFill>
                  <a:srgbClr val="0078D4"/>
                </a:solidFill>
                <a:latin typeface="Calibri" pitchFamily="34" charset="0"/>
                <a:ea typeface="Calibri" pitchFamily="34" charset="-122"/>
                <a:cs typeface="Calibri" pitchFamily="34" charset="-120"/>
              </a:rPr>
              <a:t>Translate technical findings into clear business impact</a:t>
            </a:r>
            <a:endParaRPr lang="en-US" sz="750" dirty="0"/>
          </a:p>
        </p:txBody>
      </p:sp>
      <p:sp>
        <p:nvSpPr>
          <p:cNvPr id="17" name="Shape 13"/>
          <p:cNvSpPr/>
          <p:nvPr/>
        </p:nvSpPr>
        <p:spPr>
          <a:xfrm>
            <a:off x="3364992" y="1527048"/>
            <a:ext cx="2615184" cy="27432"/>
          </a:xfrm>
          <a:prstGeom prst="rect">
            <a:avLst/>
          </a:prstGeom>
          <a:solidFill>
            <a:srgbClr val="1C2E44"/>
          </a:solidFill>
          <a:ln w="12700">
            <a:solidFill>
              <a:srgbClr val="1C2E44"/>
            </a:solidFill>
            <a:prstDash val="solid"/>
          </a:ln>
        </p:spPr>
        <p:txBody>
          <a:bodyPr/>
          <a:lstStyle/>
          <a:p>
            <a:endParaRPr lang="en-US"/>
          </a:p>
        </p:txBody>
      </p:sp>
      <p:sp>
        <p:nvSpPr>
          <p:cNvPr id="18" name="Text 14"/>
          <p:cNvSpPr/>
          <p:nvPr/>
        </p:nvSpPr>
        <p:spPr>
          <a:xfrm>
            <a:off x="3364992" y="1600200"/>
            <a:ext cx="2615184" cy="1188720"/>
          </a:xfrm>
          <a:prstGeom prst="rect">
            <a:avLst/>
          </a:prstGeom>
          <a:noFill/>
          <a:ln/>
        </p:spPr>
        <p:txBody>
          <a:bodyPr wrap="square" rtlCol="0" anchor="ctr"/>
          <a:lstStyle/>
          <a:p>
            <a:pPr marL="0" indent="0">
              <a:buNone/>
            </a:pPr>
            <a:r>
              <a:rPr lang="en-US" sz="900" dirty="0">
                <a:solidFill>
                  <a:srgbClr val="E8EDF3"/>
                </a:solidFill>
                <a:latin typeface="Calibri" pitchFamily="34" charset="0"/>
                <a:ea typeface="Calibri" pitchFamily="34" charset="-122"/>
                <a:cs typeface="Calibri" pitchFamily="34" charset="-120"/>
              </a:rPr>
              <a:t>I turned raw forensic log data into a plain-language story a CEO could act on — what the attacker did, what was at risk, and what to do next. No jargon. No log tables.</a:t>
            </a:r>
            <a:endParaRPr lang="en-US" sz="900" dirty="0"/>
          </a:p>
        </p:txBody>
      </p:sp>
      <p:sp>
        <p:nvSpPr>
          <p:cNvPr id="19" name="Shape 15"/>
          <p:cNvSpPr/>
          <p:nvPr/>
        </p:nvSpPr>
        <p:spPr>
          <a:xfrm>
            <a:off x="6263640" y="1051560"/>
            <a:ext cx="2834640" cy="1810512"/>
          </a:xfrm>
          <a:prstGeom prst="rect">
            <a:avLst/>
          </a:prstGeom>
          <a:solidFill>
            <a:srgbClr val="152233"/>
          </a:solidFill>
          <a:ln w="12700">
            <a:solidFill>
              <a:srgbClr val="1C2E44"/>
            </a:solidFill>
            <a:prstDash val="solid"/>
          </a:ln>
        </p:spPr>
        <p:txBody>
          <a:bodyPr/>
          <a:lstStyle/>
          <a:p>
            <a:endParaRPr lang="en-US"/>
          </a:p>
        </p:txBody>
      </p:sp>
      <p:sp>
        <p:nvSpPr>
          <p:cNvPr id="20" name="Shape 16"/>
          <p:cNvSpPr/>
          <p:nvPr/>
        </p:nvSpPr>
        <p:spPr>
          <a:xfrm>
            <a:off x="6263640" y="1051560"/>
            <a:ext cx="54864" cy="1810512"/>
          </a:xfrm>
          <a:prstGeom prst="rect">
            <a:avLst/>
          </a:prstGeom>
          <a:solidFill>
            <a:srgbClr val="27AE60"/>
          </a:solidFill>
          <a:ln w="12700">
            <a:solidFill>
              <a:srgbClr val="27AE60"/>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6382512" y="1143000"/>
            <a:ext cx="320040" cy="320040"/>
          </a:xfrm>
          <a:prstGeom prst="rect">
            <a:avLst/>
          </a:prstGeom>
        </p:spPr>
      </p:pic>
      <p:sp>
        <p:nvSpPr>
          <p:cNvPr id="22" name="Shape 17"/>
          <p:cNvSpPr/>
          <p:nvPr/>
        </p:nvSpPr>
        <p:spPr>
          <a:xfrm>
            <a:off x="6793992" y="1143000"/>
            <a:ext cx="2212848" cy="329184"/>
          </a:xfrm>
          <a:prstGeom prst="rect">
            <a:avLst/>
          </a:prstGeom>
          <a:solidFill>
            <a:srgbClr val="1C2E44"/>
          </a:solidFill>
          <a:ln w="12700">
            <a:solidFill>
              <a:srgbClr val="1C2E44"/>
            </a:solidFill>
            <a:prstDash val="solid"/>
          </a:ln>
        </p:spPr>
        <p:txBody>
          <a:bodyPr/>
          <a:lstStyle/>
          <a:p>
            <a:endParaRPr lang="en-US"/>
          </a:p>
        </p:txBody>
      </p:sp>
      <p:sp>
        <p:nvSpPr>
          <p:cNvPr id="23" name="Text 18"/>
          <p:cNvSpPr/>
          <p:nvPr/>
        </p:nvSpPr>
        <p:spPr>
          <a:xfrm>
            <a:off x="6830568" y="1143000"/>
            <a:ext cx="2176272" cy="329184"/>
          </a:xfrm>
          <a:prstGeom prst="rect">
            <a:avLst/>
          </a:prstGeom>
          <a:noFill/>
          <a:ln/>
        </p:spPr>
        <p:txBody>
          <a:bodyPr wrap="square" lIns="0" tIns="0" rIns="0" bIns="0" rtlCol="0" anchor="ctr"/>
          <a:lstStyle/>
          <a:p>
            <a:pPr marL="0" indent="0">
              <a:buNone/>
            </a:pPr>
            <a:r>
              <a:rPr lang="en-US" sz="750" b="1" dirty="0">
                <a:solidFill>
                  <a:srgbClr val="27AE60"/>
                </a:solidFill>
                <a:latin typeface="Calibri" pitchFamily="34" charset="0"/>
                <a:ea typeface="Calibri" pitchFamily="34" charset="-122"/>
                <a:cs typeface="Calibri" pitchFamily="34" charset="-120"/>
              </a:rPr>
              <a:t>Capture metadata for Claims, Underwriting &amp; Analytics</a:t>
            </a:r>
            <a:endParaRPr lang="en-US" sz="750" dirty="0"/>
          </a:p>
        </p:txBody>
      </p:sp>
      <p:sp>
        <p:nvSpPr>
          <p:cNvPr id="24" name="Shape 19"/>
          <p:cNvSpPr/>
          <p:nvPr/>
        </p:nvSpPr>
        <p:spPr>
          <a:xfrm>
            <a:off x="6382512" y="1527048"/>
            <a:ext cx="2615184" cy="27432"/>
          </a:xfrm>
          <a:prstGeom prst="rect">
            <a:avLst/>
          </a:prstGeom>
          <a:solidFill>
            <a:srgbClr val="1C2E44"/>
          </a:solidFill>
          <a:ln w="12700">
            <a:solidFill>
              <a:srgbClr val="1C2E44"/>
            </a:solidFill>
            <a:prstDash val="solid"/>
          </a:ln>
        </p:spPr>
        <p:txBody>
          <a:bodyPr/>
          <a:lstStyle/>
          <a:p>
            <a:endParaRPr lang="en-US"/>
          </a:p>
        </p:txBody>
      </p:sp>
      <p:sp>
        <p:nvSpPr>
          <p:cNvPr id="25" name="Text 20"/>
          <p:cNvSpPr/>
          <p:nvPr/>
        </p:nvSpPr>
        <p:spPr>
          <a:xfrm>
            <a:off x="6382512" y="1600200"/>
            <a:ext cx="2615184" cy="1188720"/>
          </a:xfrm>
          <a:prstGeom prst="rect">
            <a:avLst/>
          </a:prstGeom>
          <a:noFill/>
          <a:ln/>
        </p:spPr>
        <p:txBody>
          <a:bodyPr wrap="square" rtlCol="0" anchor="ctr"/>
          <a:lstStyle/>
          <a:p>
            <a:pPr marL="0" indent="0">
              <a:buNone/>
            </a:pPr>
            <a:r>
              <a:rPr lang="en-US" sz="900" dirty="0">
                <a:solidFill>
                  <a:srgbClr val="E8EDF3"/>
                </a:solidFill>
                <a:latin typeface="Calibri" pitchFamily="34" charset="0"/>
                <a:ea typeface="Calibri" pitchFamily="34" charset="-122"/>
                <a:cs typeface="Calibri" pitchFamily="34" charset="-120"/>
              </a:rPr>
              <a:t>Root cause, initial access vector, lateral movement confirmed, dwell time, impacted systems, recommended controls — every field Canopius uses to feed underwriting analytics.</a:t>
            </a:r>
            <a:endParaRPr lang="en-US" sz="900" dirty="0"/>
          </a:p>
        </p:txBody>
      </p:sp>
      <p:sp>
        <p:nvSpPr>
          <p:cNvPr id="26" name="Shape 21"/>
          <p:cNvSpPr/>
          <p:nvPr/>
        </p:nvSpPr>
        <p:spPr>
          <a:xfrm>
            <a:off x="228600" y="3017520"/>
            <a:ext cx="2834640" cy="1810512"/>
          </a:xfrm>
          <a:prstGeom prst="rect">
            <a:avLst/>
          </a:prstGeom>
          <a:solidFill>
            <a:srgbClr val="152233"/>
          </a:solidFill>
          <a:ln w="12700">
            <a:solidFill>
              <a:srgbClr val="1C2E44"/>
            </a:solidFill>
            <a:prstDash val="solid"/>
          </a:ln>
        </p:spPr>
        <p:txBody>
          <a:bodyPr/>
          <a:lstStyle/>
          <a:p>
            <a:endParaRPr lang="en-US"/>
          </a:p>
        </p:txBody>
      </p:sp>
      <p:sp>
        <p:nvSpPr>
          <p:cNvPr id="27" name="Shape 22"/>
          <p:cNvSpPr/>
          <p:nvPr/>
        </p:nvSpPr>
        <p:spPr>
          <a:xfrm>
            <a:off x="228600" y="3017520"/>
            <a:ext cx="54864" cy="1810512"/>
          </a:xfrm>
          <a:prstGeom prst="rect">
            <a:avLst/>
          </a:prstGeom>
          <a:solidFill>
            <a:srgbClr val="E67E22"/>
          </a:solidFill>
          <a:ln w="12700">
            <a:solidFill>
              <a:srgbClr val="E67E22"/>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347472" y="3108960"/>
            <a:ext cx="320040" cy="320040"/>
          </a:xfrm>
          <a:prstGeom prst="rect">
            <a:avLst/>
          </a:prstGeom>
        </p:spPr>
      </p:pic>
      <p:sp>
        <p:nvSpPr>
          <p:cNvPr id="29" name="Shape 23"/>
          <p:cNvSpPr/>
          <p:nvPr/>
        </p:nvSpPr>
        <p:spPr>
          <a:xfrm>
            <a:off x="758952" y="3108960"/>
            <a:ext cx="2212848" cy="329184"/>
          </a:xfrm>
          <a:prstGeom prst="rect">
            <a:avLst/>
          </a:prstGeom>
          <a:solidFill>
            <a:srgbClr val="1C2E44"/>
          </a:solidFill>
          <a:ln w="12700">
            <a:solidFill>
              <a:srgbClr val="1C2E44"/>
            </a:solidFill>
            <a:prstDash val="solid"/>
          </a:ln>
        </p:spPr>
        <p:txBody>
          <a:bodyPr/>
          <a:lstStyle/>
          <a:p>
            <a:endParaRPr lang="en-US"/>
          </a:p>
        </p:txBody>
      </p:sp>
      <p:sp>
        <p:nvSpPr>
          <p:cNvPr id="30" name="Text 24"/>
          <p:cNvSpPr/>
          <p:nvPr/>
        </p:nvSpPr>
        <p:spPr>
          <a:xfrm>
            <a:off x="795528" y="3108960"/>
            <a:ext cx="2176272" cy="329184"/>
          </a:xfrm>
          <a:prstGeom prst="rect">
            <a:avLst/>
          </a:prstGeom>
          <a:noFill/>
          <a:ln/>
        </p:spPr>
        <p:txBody>
          <a:bodyPr wrap="square" lIns="0" tIns="0" rIns="0" bIns="0" rtlCol="0" anchor="ctr"/>
          <a:lstStyle/>
          <a:p>
            <a:pPr marL="0" indent="0">
              <a:buNone/>
            </a:pPr>
            <a:r>
              <a:rPr lang="en-US" sz="750" b="1" dirty="0">
                <a:solidFill>
                  <a:srgbClr val="E67E22"/>
                </a:solidFill>
                <a:latin typeface="Calibri" pitchFamily="34" charset="0"/>
                <a:ea typeface="Calibri" pitchFamily="34" charset="-122"/>
                <a:cs typeface="Calibri" pitchFamily="34" charset="-120"/>
              </a:rPr>
              <a:t>Set and manage expectations under pressure</a:t>
            </a:r>
            <a:endParaRPr lang="en-US" sz="750" dirty="0"/>
          </a:p>
        </p:txBody>
      </p:sp>
      <p:sp>
        <p:nvSpPr>
          <p:cNvPr id="31" name="Shape 25"/>
          <p:cNvSpPr/>
          <p:nvPr/>
        </p:nvSpPr>
        <p:spPr>
          <a:xfrm>
            <a:off x="347472" y="3493008"/>
            <a:ext cx="2615184" cy="27432"/>
          </a:xfrm>
          <a:prstGeom prst="rect">
            <a:avLst/>
          </a:prstGeom>
          <a:solidFill>
            <a:srgbClr val="1C2E44"/>
          </a:solidFill>
          <a:ln w="12700">
            <a:solidFill>
              <a:srgbClr val="1C2E44"/>
            </a:solidFill>
            <a:prstDash val="solid"/>
          </a:ln>
        </p:spPr>
        <p:txBody>
          <a:bodyPr/>
          <a:lstStyle/>
          <a:p>
            <a:endParaRPr lang="en-US"/>
          </a:p>
        </p:txBody>
      </p:sp>
      <p:sp>
        <p:nvSpPr>
          <p:cNvPr id="32" name="Text 26"/>
          <p:cNvSpPr/>
          <p:nvPr/>
        </p:nvSpPr>
        <p:spPr>
          <a:xfrm>
            <a:off x="347472" y="3566160"/>
            <a:ext cx="2615184" cy="1188720"/>
          </a:xfrm>
          <a:prstGeom prst="rect">
            <a:avLst/>
          </a:prstGeom>
          <a:noFill/>
          <a:ln/>
        </p:spPr>
        <p:txBody>
          <a:bodyPr wrap="square" rtlCol="0" anchor="ctr"/>
          <a:lstStyle/>
          <a:p>
            <a:pPr marL="0" indent="0">
              <a:buNone/>
            </a:pPr>
            <a:r>
              <a:rPr lang="en-US" sz="900" dirty="0">
                <a:solidFill>
                  <a:srgbClr val="E8EDF3"/>
                </a:solidFill>
                <a:latin typeface="Calibri" pitchFamily="34" charset="0"/>
                <a:ea typeface="Calibri" pitchFamily="34" charset="-122"/>
                <a:cs typeface="Calibri" pitchFamily="34" charset="-120"/>
              </a:rPr>
              <a:t>The CEO of a major company asked for answers. I delivered a calm, structured response with a defined scope, confirmed findings, and prioritised next steps — not panic, not ambiguity.</a:t>
            </a:r>
            <a:endParaRPr lang="en-US" sz="900" dirty="0"/>
          </a:p>
        </p:txBody>
      </p:sp>
      <p:sp>
        <p:nvSpPr>
          <p:cNvPr id="33" name="Shape 27"/>
          <p:cNvSpPr/>
          <p:nvPr/>
        </p:nvSpPr>
        <p:spPr>
          <a:xfrm>
            <a:off x="3246120" y="3017520"/>
            <a:ext cx="2834640" cy="1810512"/>
          </a:xfrm>
          <a:prstGeom prst="rect">
            <a:avLst/>
          </a:prstGeom>
          <a:solidFill>
            <a:srgbClr val="152233"/>
          </a:solidFill>
          <a:ln w="12700">
            <a:solidFill>
              <a:srgbClr val="1C2E44"/>
            </a:solidFill>
            <a:prstDash val="solid"/>
          </a:ln>
        </p:spPr>
        <p:txBody>
          <a:bodyPr/>
          <a:lstStyle/>
          <a:p>
            <a:endParaRPr lang="en-US"/>
          </a:p>
        </p:txBody>
      </p:sp>
      <p:sp>
        <p:nvSpPr>
          <p:cNvPr id="34" name="Shape 28"/>
          <p:cNvSpPr/>
          <p:nvPr/>
        </p:nvSpPr>
        <p:spPr>
          <a:xfrm>
            <a:off x="3246120" y="3017520"/>
            <a:ext cx="54864" cy="1810512"/>
          </a:xfrm>
          <a:prstGeom prst="rect">
            <a:avLst/>
          </a:prstGeom>
          <a:solidFill>
            <a:srgbClr val="8E44AD"/>
          </a:solidFill>
          <a:ln w="12700">
            <a:solidFill>
              <a:srgbClr val="8E44AD"/>
            </a:solidFill>
            <a:prstDash val="solid"/>
          </a:ln>
        </p:spPr>
        <p:txBody>
          <a:bodyPr/>
          <a:lstStyle/>
          <a:p>
            <a:endParaRPr lang="en-US"/>
          </a:p>
        </p:txBody>
      </p:sp>
      <p:pic>
        <p:nvPicPr>
          <p:cNvPr id="35" name="Image 4" descr="preencoded.png"/>
          <p:cNvPicPr>
            <a:picLocks noChangeAspect="1"/>
          </p:cNvPicPr>
          <p:nvPr/>
        </p:nvPicPr>
        <p:blipFill>
          <a:blip r:embed="rId7"/>
          <a:stretch>
            <a:fillRect/>
          </a:stretch>
        </p:blipFill>
        <p:spPr>
          <a:xfrm>
            <a:off x="3364992" y="3108960"/>
            <a:ext cx="320040" cy="320040"/>
          </a:xfrm>
          <a:prstGeom prst="rect">
            <a:avLst/>
          </a:prstGeom>
        </p:spPr>
      </p:pic>
      <p:sp>
        <p:nvSpPr>
          <p:cNvPr id="36" name="Shape 29"/>
          <p:cNvSpPr/>
          <p:nvPr/>
        </p:nvSpPr>
        <p:spPr>
          <a:xfrm>
            <a:off x="3776472" y="3108960"/>
            <a:ext cx="2212848" cy="329184"/>
          </a:xfrm>
          <a:prstGeom prst="rect">
            <a:avLst/>
          </a:prstGeom>
          <a:solidFill>
            <a:srgbClr val="1C2E44"/>
          </a:solidFill>
          <a:ln w="12700">
            <a:solidFill>
              <a:srgbClr val="1C2E44"/>
            </a:solidFill>
            <a:prstDash val="solid"/>
          </a:ln>
        </p:spPr>
        <p:txBody>
          <a:bodyPr/>
          <a:lstStyle/>
          <a:p>
            <a:endParaRPr lang="en-US"/>
          </a:p>
        </p:txBody>
      </p:sp>
      <p:sp>
        <p:nvSpPr>
          <p:cNvPr id="37" name="Text 30"/>
          <p:cNvSpPr/>
          <p:nvPr/>
        </p:nvSpPr>
        <p:spPr>
          <a:xfrm>
            <a:off x="3813048" y="3108960"/>
            <a:ext cx="2176272" cy="329184"/>
          </a:xfrm>
          <a:prstGeom prst="rect">
            <a:avLst/>
          </a:prstGeom>
          <a:noFill/>
          <a:ln/>
        </p:spPr>
        <p:txBody>
          <a:bodyPr wrap="square" lIns="0" tIns="0" rIns="0" bIns="0" rtlCol="0" anchor="ctr"/>
          <a:lstStyle/>
          <a:p>
            <a:pPr marL="0" indent="0">
              <a:buNone/>
            </a:pPr>
            <a:r>
              <a:rPr lang="en-US" sz="750" b="1" dirty="0">
                <a:solidFill>
                  <a:srgbClr val="8E44AD"/>
                </a:solidFill>
                <a:latin typeface="Calibri" pitchFamily="34" charset="0"/>
                <a:ea typeface="Calibri" pitchFamily="34" charset="-122"/>
                <a:cs typeface="Calibri" pitchFamily="34" charset="-120"/>
              </a:rPr>
              <a:t>Structured handovers across a global 24/7 team</a:t>
            </a:r>
            <a:endParaRPr lang="en-US" sz="750" dirty="0"/>
          </a:p>
        </p:txBody>
      </p:sp>
      <p:sp>
        <p:nvSpPr>
          <p:cNvPr id="38" name="Shape 31"/>
          <p:cNvSpPr/>
          <p:nvPr/>
        </p:nvSpPr>
        <p:spPr>
          <a:xfrm>
            <a:off x="3364992" y="3493008"/>
            <a:ext cx="2615184" cy="27432"/>
          </a:xfrm>
          <a:prstGeom prst="rect">
            <a:avLst/>
          </a:prstGeom>
          <a:solidFill>
            <a:srgbClr val="1C2E44"/>
          </a:solidFill>
          <a:ln w="12700">
            <a:solidFill>
              <a:srgbClr val="1C2E44"/>
            </a:solidFill>
            <a:prstDash val="solid"/>
          </a:ln>
        </p:spPr>
        <p:txBody>
          <a:bodyPr/>
          <a:lstStyle/>
          <a:p>
            <a:endParaRPr lang="en-US"/>
          </a:p>
        </p:txBody>
      </p:sp>
      <p:sp>
        <p:nvSpPr>
          <p:cNvPr id="39" name="Text 32"/>
          <p:cNvSpPr/>
          <p:nvPr/>
        </p:nvSpPr>
        <p:spPr>
          <a:xfrm>
            <a:off x="3364992" y="3566160"/>
            <a:ext cx="2615184" cy="1188720"/>
          </a:xfrm>
          <a:prstGeom prst="rect">
            <a:avLst/>
          </a:prstGeom>
          <a:noFill/>
          <a:ln/>
        </p:spPr>
        <p:txBody>
          <a:bodyPr wrap="square" rtlCol="0" anchor="ctr"/>
          <a:lstStyle/>
          <a:p>
            <a:pPr marL="0" indent="0">
              <a:buNone/>
            </a:pPr>
            <a:r>
              <a:rPr lang="en-US" sz="900" dirty="0">
                <a:solidFill>
                  <a:srgbClr val="E8EDF3"/>
                </a:solidFill>
                <a:latin typeface="Calibri" pitchFamily="34" charset="0"/>
                <a:ea typeface="Calibri" pitchFamily="34" charset="-122"/>
                <a:cs typeface="Calibri" pitchFamily="34" charset="-120"/>
              </a:rPr>
              <a:t>My report is built for handoff — every action, finding, IOC and recommendation documented so any analyst in any region can pick it up without missing a beat.</a:t>
            </a:r>
            <a:endParaRPr lang="en-US" sz="900" dirty="0"/>
          </a:p>
        </p:txBody>
      </p:sp>
      <p:sp>
        <p:nvSpPr>
          <p:cNvPr id="40" name="Shape 33"/>
          <p:cNvSpPr/>
          <p:nvPr/>
        </p:nvSpPr>
        <p:spPr>
          <a:xfrm>
            <a:off x="6263640" y="3017520"/>
            <a:ext cx="2834640" cy="1810512"/>
          </a:xfrm>
          <a:prstGeom prst="rect">
            <a:avLst/>
          </a:prstGeom>
          <a:solidFill>
            <a:srgbClr val="152233"/>
          </a:solidFill>
          <a:ln w="12700">
            <a:solidFill>
              <a:srgbClr val="1C2E44"/>
            </a:solidFill>
            <a:prstDash val="solid"/>
          </a:ln>
        </p:spPr>
        <p:txBody>
          <a:bodyPr/>
          <a:lstStyle/>
          <a:p>
            <a:endParaRPr lang="en-US"/>
          </a:p>
        </p:txBody>
      </p:sp>
      <p:sp>
        <p:nvSpPr>
          <p:cNvPr id="41" name="Shape 34"/>
          <p:cNvSpPr/>
          <p:nvPr/>
        </p:nvSpPr>
        <p:spPr>
          <a:xfrm>
            <a:off x="6263640" y="3017520"/>
            <a:ext cx="54864" cy="1810512"/>
          </a:xfrm>
          <a:prstGeom prst="rect">
            <a:avLst/>
          </a:prstGeom>
          <a:solidFill>
            <a:srgbClr val="00897B"/>
          </a:solidFill>
          <a:ln w="12700">
            <a:solidFill>
              <a:srgbClr val="00897B"/>
            </a:solidFill>
            <a:prstDash val="solid"/>
          </a:ln>
        </p:spPr>
        <p:txBody>
          <a:bodyPr/>
          <a:lstStyle/>
          <a:p>
            <a:endParaRPr lang="en-US"/>
          </a:p>
        </p:txBody>
      </p:sp>
      <p:pic>
        <p:nvPicPr>
          <p:cNvPr id="42" name="Image 5" descr="preencoded.png"/>
          <p:cNvPicPr>
            <a:picLocks noChangeAspect="1"/>
          </p:cNvPicPr>
          <p:nvPr/>
        </p:nvPicPr>
        <p:blipFill>
          <a:blip r:embed="rId8"/>
          <a:stretch>
            <a:fillRect/>
          </a:stretch>
        </p:blipFill>
        <p:spPr>
          <a:xfrm>
            <a:off x="6382512" y="3108960"/>
            <a:ext cx="320040" cy="320040"/>
          </a:xfrm>
          <a:prstGeom prst="rect">
            <a:avLst/>
          </a:prstGeom>
        </p:spPr>
      </p:pic>
      <p:sp>
        <p:nvSpPr>
          <p:cNvPr id="43" name="Shape 35"/>
          <p:cNvSpPr/>
          <p:nvPr/>
        </p:nvSpPr>
        <p:spPr>
          <a:xfrm>
            <a:off x="6793992" y="3108960"/>
            <a:ext cx="2212848" cy="329184"/>
          </a:xfrm>
          <a:prstGeom prst="rect">
            <a:avLst/>
          </a:prstGeom>
          <a:solidFill>
            <a:srgbClr val="1C2E44"/>
          </a:solidFill>
          <a:ln w="12700">
            <a:solidFill>
              <a:srgbClr val="1C2E44"/>
            </a:solidFill>
            <a:prstDash val="solid"/>
          </a:ln>
        </p:spPr>
        <p:txBody>
          <a:bodyPr/>
          <a:lstStyle/>
          <a:p>
            <a:endParaRPr lang="en-US"/>
          </a:p>
        </p:txBody>
      </p:sp>
      <p:sp>
        <p:nvSpPr>
          <p:cNvPr id="44" name="Text 36"/>
          <p:cNvSpPr/>
          <p:nvPr/>
        </p:nvSpPr>
        <p:spPr>
          <a:xfrm>
            <a:off x="6830568" y="3108960"/>
            <a:ext cx="2176272" cy="329184"/>
          </a:xfrm>
          <a:prstGeom prst="rect">
            <a:avLst/>
          </a:prstGeom>
          <a:noFill/>
          <a:ln/>
        </p:spPr>
        <p:txBody>
          <a:bodyPr wrap="square" lIns="0" tIns="0" rIns="0" bIns="0" rtlCol="0" anchor="ctr"/>
          <a:lstStyle/>
          <a:p>
            <a:pPr marL="0" indent="0">
              <a:buNone/>
            </a:pPr>
            <a:r>
              <a:rPr lang="en-US" sz="750" b="1" dirty="0">
                <a:solidFill>
                  <a:srgbClr val="00897B"/>
                </a:solidFill>
                <a:latin typeface="Calibri" pitchFamily="34" charset="0"/>
                <a:ea typeface="Calibri" pitchFamily="34" charset="-122"/>
                <a:cs typeface="Calibri" pitchFamily="34" charset="-120"/>
              </a:rPr>
              <a:t>Feed lessons learned into playbooks and control uplift</a:t>
            </a:r>
            <a:endParaRPr lang="en-US" sz="750" dirty="0"/>
          </a:p>
        </p:txBody>
      </p:sp>
      <p:sp>
        <p:nvSpPr>
          <p:cNvPr id="45" name="Shape 37"/>
          <p:cNvSpPr/>
          <p:nvPr/>
        </p:nvSpPr>
        <p:spPr>
          <a:xfrm>
            <a:off x="6382512" y="3493008"/>
            <a:ext cx="2615184" cy="27432"/>
          </a:xfrm>
          <a:prstGeom prst="rect">
            <a:avLst/>
          </a:prstGeom>
          <a:solidFill>
            <a:srgbClr val="1C2E44"/>
          </a:solidFill>
          <a:ln w="12700">
            <a:solidFill>
              <a:srgbClr val="1C2E44"/>
            </a:solidFill>
            <a:prstDash val="solid"/>
          </a:ln>
        </p:spPr>
        <p:txBody>
          <a:bodyPr/>
          <a:lstStyle/>
          <a:p>
            <a:endParaRPr lang="en-US"/>
          </a:p>
        </p:txBody>
      </p:sp>
      <p:sp>
        <p:nvSpPr>
          <p:cNvPr id="46" name="Text 38"/>
          <p:cNvSpPr/>
          <p:nvPr/>
        </p:nvSpPr>
        <p:spPr>
          <a:xfrm>
            <a:off x="6382512" y="3566160"/>
            <a:ext cx="2615184" cy="1188720"/>
          </a:xfrm>
          <a:prstGeom prst="rect">
            <a:avLst/>
          </a:prstGeom>
          <a:noFill/>
          <a:ln/>
        </p:spPr>
        <p:txBody>
          <a:bodyPr wrap="square" rtlCol="0" anchor="ctr"/>
          <a:lstStyle/>
          <a:p>
            <a:pPr marL="0" indent="0">
              <a:buNone/>
            </a:pPr>
            <a:r>
              <a:rPr lang="en-US" sz="900" dirty="0">
                <a:solidFill>
                  <a:srgbClr val="E8EDF3"/>
                </a:solidFill>
                <a:latin typeface="Calibri" pitchFamily="34" charset="0"/>
                <a:ea typeface="Calibri" pitchFamily="34" charset="-122"/>
                <a:cs typeface="Calibri" pitchFamily="34" charset="-120"/>
              </a:rPr>
              <a:t>Six prioritised recommendations — each one tied directly to a control gap the attack exposed. That's the loop Canopius runs after every policyholder engagement.</a:t>
            </a:r>
            <a:endParaRPr lang="en-US" sz="900" dirty="0"/>
          </a:p>
        </p:txBody>
      </p:sp>
      <p:sp>
        <p:nvSpPr>
          <p:cNvPr id="47" name="Shape 39"/>
          <p:cNvSpPr/>
          <p:nvPr/>
        </p:nvSpPr>
        <p:spPr>
          <a:xfrm>
            <a:off x="0" y="4846320"/>
            <a:ext cx="9144000" cy="297180"/>
          </a:xfrm>
          <a:prstGeom prst="rect">
            <a:avLst/>
          </a:prstGeom>
          <a:solidFill>
            <a:srgbClr val="152233"/>
          </a:solidFill>
          <a:ln w="12700">
            <a:solidFill>
              <a:srgbClr val="152233"/>
            </a:solidFill>
            <a:prstDash val="solid"/>
          </a:ln>
        </p:spPr>
        <p:txBody>
          <a:bodyPr/>
          <a:lstStyle/>
          <a:p>
            <a:endParaRPr lang="en-US"/>
          </a:p>
        </p:txBody>
      </p:sp>
      <p:sp>
        <p:nvSpPr>
          <p:cNvPr id="48" name="Text 40"/>
          <p:cNvSpPr/>
          <p:nvPr/>
        </p:nvSpPr>
        <p:spPr>
          <a:xfrm>
            <a:off x="274320" y="4864608"/>
            <a:ext cx="8595360" cy="256032"/>
          </a:xfrm>
          <a:prstGeom prst="rect">
            <a:avLst/>
          </a:prstGeom>
          <a:noFill/>
          <a:ln/>
        </p:spPr>
        <p:txBody>
          <a:bodyPr wrap="square" rtlCol="0" anchor="ctr"/>
          <a:lstStyle/>
          <a:p>
            <a:pPr marL="0" indent="0" algn="ctr">
              <a:buNone/>
            </a:pPr>
            <a:r>
              <a:rPr lang="en-US" sz="750" dirty="0">
                <a:solidFill>
                  <a:srgbClr val="8AAABB"/>
                </a:solidFill>
                <a:latin typeface="Calibri" pitchFamily="34" charset="0"/>
                <a:ea typeface="Calibri" pitchFamily="34" charset="-122"/>
                <a:cs typeface="Calibri" pitchFamily="34" charset="-120"/>
              </a:rPr>
              <a:t>Maxine Jones  ·  Lumen Soda Endpoint IR Investigation </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9A846"/>
          </a:solidFill>
          <a:ln w="12700">
            <a:solidFill>
              <a:srgbClr val="C9A846"/>
            </a:solidFill>
            <a:prstDash val="solid"/>
          </a:ln>
        </p:spPr>
        <p:txBody>
          <a:bodyPr/>
          <a:lstStyle/>
          <a:p>
            <a:endParaRPr lang="en-US"/>
          </a:p>
        </p:txBody>
      </p:sp>
      <p:sp>
        <p:nvSpPr>
          <p:cNvPr id="3" name="Text 1"/>
          <p:cNvSpPr/>
          <p:nvPr/>
        </p:nvSpPr>
        <p:spPr>
          <a:xfrm>
            <a:off x="274320" y="0"/>
            <a:ext cx="8595360" cy="566928"/>
          </a:xfrm>
          <a:prstGeom prst="rect">
            <a:avLst/>
          </a:prstGeom>
          <a:noFill/>
          <a:ln/>
        </p:spPr>
        <p:txBody>
          <a:bodyPr wrap="square"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The Bottom Line</a:t>
            </a:r>
            <a:endParaRPr lang="en-US" sz="2000" dirty="0"/>
          </a:p>
        </p:txBody>
      </p:sp>
      <p:sp>
        <p:nvSpPr>
          <p:cNvPr id="4" name="Shape 2"/>
          <p:cNvSpPr/>
          <p:nvPr/>
        </p:nvSpPr>
        <p:spPr>
          <a:xfrm>
            <a:off x="914400" y="777240"/>
            <a:ext cx="7315200" cy="1993392"/>
          </a:xfrm>
          <a:prstGeom prst="rect">
            <a:avLst/>
          </a:prstGeom>
          <a:solidFill>
            <a:srgbClr val="152233"/>
          </a:solidFill>
          <a:ln w="12700">
            <a:solidFill>
              <a:srgbClr val="1C2E44"/>
            </a:solidFill>
            <a:prstDash val="solid"/>
          </a:ln>
        </p:spPr>
        <p:txBody>
          <a:bodyPr/>
          <a:lstStyle/>
          <a:p>
            <a:endParaRPr lang="en-US"/>
          </a:p>
        </p:txBody>
      </p:sp>
      <p:sp>
        <p:nvSpPr>
          <p:cNvPr id="5" name="Shape 3"/>
          <p:cNvSpPr/>
          <p:nvPr/>
        </p:nvSpPr>
        <p:spPr>
          <a:xfrm>
            <a:off x="914400" y="777240"/>
            <a:ext cx="73152" cy="1993392"/>
          </a:xfrm>
          <a:prstGeom prst="rect">
            <a:avLst/>
          </a:prstGeom>
          <a:solidFill>
            <a:srgbClr val="C9A846"/>
          </a:solidFill>
          <a:ln w="12700">
            <a:solidFill>
              <a:srgbClr val="C9A846"/>
            </a:solidFill>
            <a:prstDash val="solid"/>
          </a:ln>
        </p:spPr>
        <p:txBody>
          <a:bodyPr/>
          <a:lstStyle/>
          <a:p>
            <a:endParaRPr lang="en-US"/>
          </a:p>
        </p:txBody>
      </p:sp>
      <p:sp>
        <p:nvSpPr>
          <p:cNvPr id="6" name="Text 4"/>
          <p:cNvSpPr/>
          <p:nvPr/>
        </p:nvSpPr>
        <p:spPr>
          <a:xfrm>
            <a:off x="1097280" y="841248"/>
            <a:ext cx="7040880" cy="1865376"/>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One malicious file opened on one computer led to a second machine being compromised — in 22 minutes.</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The attacker accessed developer credentials, cloud tokens, and left ransomware-style files behind.</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Immediate action is needed to contain the damage and prevent it from spreading further.</a:t>
            </a:r>
            <a:endParaRPr lang="en-US" sz="1350" dirty="0"/>
          </a:p>
        </p:txBody>
      </p:sp>
      <p:sp>
        <p:nvSpPr>
          <p:cNvPr id="7" name="Shape 5"/>
          <p:cNvSpPr/>
          <p:nvPr/>
        </p:nvSpPr>
        <p:spPr>
          <a:xfrm>
            <a:off x="1371600" y="3035808"/>
            <a:ext cx="274320" cy="274320"/>
          </a:xfrm>
          <a:prstGeom prst="line">
            <a:avLst/>
          </a:prstGeom>
          <a:solidFill>
            <a:srgbClr val="C0392B"/>
          </a:solidFill>
          <a:ln w="12700">
            <a:solidFill>
              <a:srgbClr val="C0392B"/>
            </a:solidFill>
            <a:prstDash val="solid"/>
          </a:ln>
        </p:spPr>
        <p:txBody>
          <a:bodyPr/>
          <a:lstStyle/>
          <a:p>
            <a:endParaRPr lang="en-US"/>
          </a:p>
        </p:txBody>
      </p:sp>
      <p:sp>
        <p:nvSpPr>
          <p:cNvPr id="8" name="Text 6"/>
          <p:cNvSpPr/>
          <p:nvPr/>
        </p:nvSpPr>
        <p:spPr>
          <a:xfrm>
            <a:off x="1371600" y="3035808"/>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1755648" y="2944368"/>
            <a:ext cx="6400800" cy="43891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Both machines must be wiped and rebuilt immediately</a:t>
            </a:r>
            <a:endParaRPr lang="en-US" sz="1200" dirty="0"/>
          </a:p>
        </p:txBody>
      </p:sp>
      <p:sp>
        <p:nvSpPr>
          <p:cNvPr id="10" name="Shape 8"/>
          <p:cNvSpPr/>
          <p:nvPr/>
        </p:nvSpPr>
        <p:spPr>
          <a:xfrm>
            <a:off x="1371600" y="3566160"/>
            <a:ext cx="274320" cy="274320"/>
          </a:xfrm>
          <a:prstGeom prst="line">
            <a:avLst/>
          </a:prstGeom>
          <a:solidFill>
            <a:srgbClr val="E67E22"/>
          </a:solidFill>
          <a:ln w="12700">
            <a:solidFill>
              <a:srgbClr val="E67E22"/>
            </a:solidFill>
            <a:prstDash val="solid"/>
          </a:ln>
        </p:spPr>
        <p:txBody>
          <a:bodyPr/>
          <a:lstStyle/>
          <a:p>
            <a:endParaRPr lang="en-US"/>
          </a:p>
        </p:txBody>
      </p:sp>
      <p:sp>
        <p:nvSpPr>
          <p:cNvPr id="11" name="Text 9"/>
          <p:cNvSpPr/>
          <p:nvPr/>
        </p:nvSpPr>
        <p:spPr>
          <a:xfrm>
            <a:off x="1371600" y="3566160"/>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1755648" y="3474720"/>
            <a:ext cx="6400800" cy="43891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exposed credentials and cloud tokens must be rotated today</a:t>
            </a:r>
            <a:endParaRPr lang="en-US" sz="1200" dirty="0"/>
          </a:p>
        </p:txBody>
      </p:sp>
      <p:sp>
        <p:nvSpPr>
          <p:cNvPr id="13" name="Shape 11"/>
          <p:cNvSpPr/>
          <p:nvPr/>
        </p:nvSpPr>
        <p:spPr>
          <a:xfrm>
            <a:off x="1371600" y="4096512"/>
            <a:ext cx="274320" cy="274320"/>
          </a:xfrm>
          <a:prstGeom prst="line">
            <a:avLst/>
          </a:prstGeom>
          <a:solidFill>
            <a:srgbClr val="27AE60"/>
          </a:solidFill>
          <a:ln w="12700">
            <a:solidFill>
              <a:srgbClr val="27AE60"/>
            </a:solidFill>
            <a:prstDash val="solid"/>
          </a:ln>
        </p:spPr>
        <p:txBody>
          <a:bodyPr/>
          <a:lstStyle/>
          <a:p>
            <a:endParaRPr lang="en-US"/>
          </a:p>
        </p:txBody>
      </p:sp>
      <p:sp>
        <p:nvSpPr>
          <p:cNvPr id="14" name="Text 12"/>
          <p:cNvSpPr/>
          <p:nvPr/>
        </p:nvSpPr>
        <p:spPr>
          <a:xfrm>
            <a:off x="1371600" y="4096512"/>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1755648" y="4005072"/>
            <a:ext cx="6400800" cy="43891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Endpoint protection and network separation must be in place before any machine goes back online</a:t>
            </a:r>
            <a:endParaRPr lang="en-US" sz="1200" dirty="0"/>
          </a:p>
        </p:txBody>
      </p:sp>
      <p:sp>
        <p:nvSpPr>
          <p:cNvPr id="16" name="Shape 14"/>
          <p:cNvSpPr/>
          <p:nvPr/>
        </p:nvSpPr>
        <p:spPr>
          <a:xfrm>
            <a:off x="0" y="4736592"/>
            <a:ext cx="9144000" cy="402336"/>
          </a:xfrm>
          <a:prstGeom prst="rect">
            <a:avLst/>
          </a:prstGeom>
          <a:solidFill>
            <a:srgbClr val="152233"/>
          </a:solidFill>
          <a:ln w="12700">
            <a:solidFill>
              <a:srgbClr val="152233"/>
            </a:solidFill>
            <a:prstDash val="solid"/>
          </a:ln>
        </p:spPr>
        <p:txBody>
          <a:bodyPr/>
          <a:lstStyle/>
          <a:p>
            <a:endParaRPr lang="en-US"/>
          </a:p>
        </p:txBody>
      </p:sp>
      <p:sp>
        <p:nvSpPr>
          <p:cNvPr id="17" name="Text 15"/>
          <p:cNvSpPr/>
          <p:nvPr/>
        </p:nvSpPr>
        <p:spPr>
          <a:xfrm>
            <a:off x="274320" y="4764024"/>
            <a:ext cx="8595360" cy="320040"/>
          </a:xfrm>
          <a:prstGeom prst="rect">
            <a:avLst/>
          </a:prstGeom>
          <a:noFill/>
          <a:ln/>
        </p:spPr>
        <p:txBody>
          <a:bodyPr wrap="square" rtlCol="0" anchor="ctr"/>
          <a:lstStyle/>
          <a:p>
            <a:pPr marL="0" indent="0" algn="ctr">
              <a:buNone/>
            </a:pPr>
            <a:r>
              <a:rPr lang="en-US" sz="900" dirty="0">
                <a:solidFill>
                  <a:srgbClr val="C9A846"/>
                </a:solidFill>
                <a:latin typeface="Calibri" pitchFamily="34" charset="0"/>
                <a:ea typeface="Calibri" pitchFamily="34" charset="-122"/>
                <a:cs typeface="Calibri" pitchFamily="34" charset="-120"/>
              </a:rPr>
              <a:t>Maxine Jones  ·  (773) 980-4465  ·  maxinejones2015@gmail.com  ·  CompTIA Security+  ·  Chicago, IL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B4348436144DC4AA0F9C05BFECEF713" ma:contentTypeVersion="5" ma:contentTypeDescription="Create a new document." ma:contentTypeScope="" ma:versionID="9c420efe5faf53c0413883949e0cbc2e">
  <xsd:schema xmlns:xsd="http://www.w3.org/2001/XMLSchema" xmlns:xs="http://www.w3.org/2001/XMLSchema" xmlns:p="http://schemas.microsoft.com/office/2006/metadata/properties" xmlns:ns3="ac6abbc9-a915-4b68-800f-653d37c7bd55" targetNamespace="http://schemas.microsoft.com/office/2006/metadata/properties" ma:root="true" ma:fieldsID="06e25ff67b960ceb27449be8406f5218" ns3:_="">
    <xsd:import namespace="ac6abbc9-a915-4b68-800f-653d37c7bd55"/>
    <xsd:element name="properties">
      <xsd:complexType>
        <xsd:sequence>
          <xsd:element name="documentManagement">
            <xsd:complexType>
              <xsd:all>
                <xsd:element ref="ns3:MediaServiceDateTaken" minOccurs="0"/>
                <xsd:element ref="ns3:MediaServiceBillingMetadata"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6abbc9-a915-4b68-800f-653d37c7bd5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BillingMetadata" ma:index="9" nillable="true" ma:displayName="MediaServiceBillingMetadata" ma:hidden="true" ma:internalName="MediaServiceBillingMetadata" ma:readOnly="true">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EBA3637-4207-415C-A452-BBBBAC3C8FD1}">
  <ds:schemaRefs>
    <ds:schemaRef ds:uri="http://schemas.microsoft.com/sharepoint/v3/contenttype/forms"/>
  </ds:schemaRefs>
</ds:datastoreItem>
</file>

<file path=customXml/itemProps2.xml><?xml version="1.0" encoding="utf-8"?>
<ds:datastoreItem xmlns:ds="http://schemas.openxmlformats.org/officeDocument/2006/customXml" ds:itemID="{EDE290F0-9E32-438F-9E7A-070A213F69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6abbc9-a915-4b68-800f-653d37c7bd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AB20AF-4EEC-48D5-B04C-92F965C53BA4}">
  <ds:schemaRefs>
    <ds:schemaRef ds:uri="http://purl.org/dc/terms/"/>
    <ds:schemaRef ds:uri="http://purl.org/dc/elements/1.1/"/>
    <ds:schemaRef ds:uri="ac6abbc9-a915-4b68-800f-653d37c7bd55"/>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TotalTime>
  <Words>1279</Words>
  <Application>Microsoft Office PowerPoint</Application>
  <PresentationFormat>On-screen Show (16:9)</PresentationFormat>
  <Paragraphs>120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Maxine Jones</cp:lastModifiedBy>
  <cp:revision>2</cp:revision>
  <dcterms:created xsi:type="dcterms:W3CDTF">2026-04-25T05:48:42Z</dcterms:created>
  <dcterms:modified xsi:type="dcterms:W3CDTF">2026-05-05T02:23:17Z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0x0101007B4348436144DC4AA0F9C05BFECEF713</vt:lpwstr>
  </property>
</Properties>
</file>